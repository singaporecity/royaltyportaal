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D33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Roboto Flex"/>
              </a:defRPr>
            </a:pPr>
            <a:r>
              <a:t>AUTEURSPORTAAL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8E6E1"/>
                </a:solidFill>
                <a:latin typeface="Roboto Flex"/>
              </a:defRPr>
            </a:pPr>
            <a:r>
              <a:t>Het digitale platform voor auteurs van</a:t>
            </a:r>
            <a:br/>
            <a:r>
              <a:t>Noordhoff, Liber en Plantyn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6C8BE"/>
                </a:solidFill>
                <a:latin typeface="Roboto Flex"/>
              </a:defRPr>
            </a:pPr>
            <a:r>
              <a:t>Patrick Jeeninga  —  Maart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DE UITDAGING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Elk jaar 5.000 brieven versturen</a:t>
            </a:r>
            <a:br/>
            <a:r>
              <a:t>is niet meer van deze tijd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3108960" cy="32004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743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734A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383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Directe kosten per jaar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931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Print, porto en verwerking van</a:t>
            </a:r>
            <a:br/>
            <a:r>
              <a:t>royalty-afrekeningen voor drie</a:t>
            </a:r>
            <a:br/>
            <a:r>
              <a:t>organisaties samen.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560320"/>
            <a:ext cx="3108960" cy="32004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734A"/>
                </a:solidFill>
                <a:latin typeface="Roboto Flex"/>
              </a:defRPr>
            </a:pPr>
            <a:r>
              <a:t>5.000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383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Brieven per jaar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931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Elke auteur ontvangt jaarlijks</a:t>
            </a:r>
            <a:br/>
            <a:r>
              <a:t>een fysieke afrekening.</a:t>
            </a:r>
            <a:br/>
            <a:r>
              <a:t>Handmatig verwerkt, per post.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560320"/>
            <a:ext cx="3108960" cy="32004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743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8734A"/>
                </a:solidFill>
                <a:latin typeface="Roboto Flex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3383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Roboto Flex"/>
              </a:defRPr>
            </a:pPr>
            <a:r>
              <a:t>Digitaal inzicht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3931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Auteurs hebben geen realtime</a:t>
            </a:r>
            <a:br/>
            <a:r>
              <a:t>toegang tot contracten,</a:t>
            </a:r>
            <a:br/>
            <a:r>
              <a:t>afrekeningen of prognoses.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DE TRANSFORMATIE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Van papier naar portaal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572000" cy="384048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734A"/>
                </a:solidFill>
                <a:latin typeface="Roboto Flex"/>
              </a:defRPr>
            </a:pPr>
            <a:r>
              <a:t>Nu: fysieke 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1× per jaar royalty-brief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Geen tussentijds inzicht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Vragen via email/telefoon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Contracten in archiefkast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Geen prognose mogelijk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303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✗  Gegevenswijziging per formulier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6576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194560"/>
            <a:ext cx="4572000" cy="3840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460"/>
                </a:solidFill>
                <a:latin typeface="Roboto Flex"/>
              </a:defRPr>
            </a:pPr>
            <a:r>
              <a:t>Straks: het Auteursportaal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24/7 inzicht in afrekeningen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Realtime royalty-overzicht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Alles in één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Contracten direct inzien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Prognose komend jaar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303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  <a:latin typeface="Roboto Flex"/>
              </a:defRPr>
            </a:pPr>
            <a:r>
              <a:t>✓  Wijzigingen digitaal aanvragen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DE OPLOSSING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Eén portaal voor al je auteurs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9456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Auteursdashboard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9260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Persoonlijk overzicht met jaaroverzicht,</a:t>
            </a:r>
            <a:br/>
            <a:r>
              <a:t>royalty-grafiek, evenementen en nieuws.</a:t>
            </a:r>
            <a:br/>
            <a:r>
              <a:t>Tweetalig (NL/EN).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4688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Afrekeningen &amp; PDF's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9260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Zoeken, filteren, preview en download</a:t>
            </a:r>
            <a:br/>
            <a:r>
              <a:t>van alle royalty-afrekeningen.</a:t>
            </a:r>
            <a:br/>
            <a:r>
              <a:t>CSV-export voor de boekhouding.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20624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4805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Contracten &amp; Prognoses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93776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Alle contracten op één plek. Verwachte</a:t>
            </a:r>
            <a:br/>
            <a:r>
              <a:t>royalties voor het komend jaar</a:t>
            </a:r>
            <a:br/>
            <a:r>
              <a:t>met min/max range.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4805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460"/>
                </a:solidFill>
                <a:latin typeface="Roboto Flex"/>
              </a:defRPr>
            </a:pPr>
            <a:r>
              <a:t>Admin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93776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Roboto Flex"/>
              </a:defRPr>
            </a:pPr>
            <a:r>
              <a:t>Beheer auteurs, upload afrekeningen</a:t>
            </a:r>
            <a:br/>
            <a:r>
              <a:t>in bulk, keur wijzigingsverzoeken goed.</a:t>
            </a:r>
            <a:br/>
            <a:r>
              <a:t>CSV-import voor nieuwe auteurs.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FUNCTIONALITEITEN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zit er allemaal in?</a:t>
            </a:r>
          </a:p>
        </p:txBody>
      </p:sp>
      <p:sp>
        <p:nvSpPr>
          <p:cNvPr id="4" name="Oval 3"/>
          <p:cNvSpPr/>
          <p:nvPr/>
        </p:nvSpPr>
        <p:spPr>
          <a:xfrm>
            <a:off x="1097280" y="2212848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103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7 tabbladen: Start, Afrekeningen, Contracten,</a:t>
            </a:r>
            <a:br/>
            <a:r>
              <a:t>Prognose, Declaraties, FAQ, Profiel</a:t>
            </a:r>
          </a:p>
        </p:txBody>
      </p:sp>
      <p:sp>
        <p:nvSpPr>
          <p:cNvPr id="6" name="Oval 5"/>
          <p:cNvSpPr/>
          <p:nvPr/>
        </p:nvSpPr>
        <p:spPr>
          <a:xfrm>
            <a:off x="6400800" y="2212848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103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PDF preview &amp; download van afrekeningen</a:t>
            </a:r>
            <a:br/>
            <a:r>
              <a:t>en contracten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2926080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81635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Interactieve royalty-grafiek per jaar</a:t>
            </a:r>
            <a:br/>
            <a:r>
              <a:t>met type-uitsplitsing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2926080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81635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Bulk PDF upload en CSV-import voor admin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3639312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29584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Wijzigingsverzoeken met goedkeuringsflow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3639312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529584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Beveiligd met Row Level Security —</a:t>
            </a:r>
            <a:br/>
            <a:r>
              <a:t>auteurs zien alleen eigen data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4352544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242816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Tweetalig (NL/EN) met automatische</a:t>
            </a:r>
            <a:br/>
            <a:r>
              <a:t>begroeting op basis van tijd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4352544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242816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Dark mode, responsive design,</a:t>
            </a:r>
            <a:br/>
            <a:r>
              <a:t>command palette (⌘K)</a:t>
            </a:r>
          </a:p>
        </p:txBody>
      </p:sp>
      <p:sp>
        <p:nvSpPr>
          <p:cNvPr id="20" name="Oval 19"/>
          <p:cNvSpPr/>
          <p:nvPr/>
        </p:nvSpPr>
        <p:spPr>
          <a:xfrm>
            <a:off x="1097280" y="5065776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4956048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Declaraties indienen met PDF-upload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5065776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956048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Guided tour voor nieuwe auteurs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" y="5779008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56692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Evenementen, nieuws &amp;</a:t>
            </a:r>
            <a:br/>
            <a:r>
              <a:t>Noordhoff Academy integratie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5779008"/>
            <a:ext cx="109728" cy="109728"/>
          </a:xfrm>
          <a:prstGeom prst="ellipse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6692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Schaalbaar naar Liber en Plantyn</a:t>
            </a:r>
            <a:br/>
            <a:r>
              <a:t>(white-label ready)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ONTWIKKELING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200 uur — volledig urenlogboek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UX research &amp; wireframes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51460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Huisstijl &amp; design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51460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Login &amp; authenticatie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06324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Dashboard framework &amp;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06324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7 auteur-tabbladen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28 uur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61188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PDF preview &amp; generatie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10 uur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61188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490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Admin dashboard &amp; CRUD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22 uur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4160519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7490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Supabase backend &amp; RLS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18 uur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160519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Bulk import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976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709159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29767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Responsive &amp; mobile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2976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14 uur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709159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846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i18n, dark mode, guided tour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4846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12 uur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525780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846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Publieke website (5 pagina's)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4846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257800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39495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11827"/>
                </a:solidFill>
                <a:latin typeface="Roboto Flex"/>
              </a:defRPr>
            </a:pPr>
            <a:r>
              <a:t>Testing, QA &amp; optimalisatie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3949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7460"/>
                </a:solidFill>
                <a:latin typeface="Roboto Flex"/>
              </a:defRPr>
            </a:pPr>
            <a:r>
              <a:t>16 uur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0" y="5806439"/>
            <a:ext cx="50292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0" y="5760720"/>
            <a:ext cx="10058400" cy="25400"/>
          </a:xfrm>
          <a:prstGeom prst="rect">
            <a:avLst/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5943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TOTAAL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5943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7460"/>
                </a:solidFill>
                <a:latin typeface="Roboto Flex"/>
              </a:defRPr>
            </a:pPr>
            <a:r>
              <a:t>200 uur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BUSINESSCASE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Return on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2286000" cy="146304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€10.000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Huidige kosten</a:t>
            </a:r>
            <a:br/>
            <a:r>
              <a:t>post per jaar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286000" cy="1463040"/>
          </a:xfrm>
          <a:prstGeom prst="roundRect">
            <a:avLst>
              <a:gd name="adj" fmla="val 4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79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Roboto Flex"/>
              </a:defRPr>
            </a:pPr>
            <a:r>
              <a:t>€0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79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E6E1"/>
                </a:solidFill>
                <a:latin typeface="Roboto Flex"/>
              </a:defRPr>
            </a:pPr>
            <a:r>
              <a:t>Postkosten</a:t>
            </a:r>
            <a:br/>
            <a:r>
              <a:t>met portaal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286000" cy="146304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5.000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Auteurs</a:t>
            </a:r>
            <a:br/>
            <a:r>
              <a:t>bereikt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59" y="2103120"/>
            <a:ext cx="2286000" cy="146304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7460"/>
                </a:solidFill>
                <a:latin typeface="Roboto Flex"/>
              </a:defRPr>
            </a:pPr>
            <a:r>
              <a:t>24/7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3999" y="2926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Beschikbaar-</a:t>
            </a:r>
            <a:br/>
            <a:r>
              <a:t>heid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97280" y="3931920"/>
          <a:ext cx="10058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Kostenpost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Huidig (per jaar)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Roboto Flex"/>
                        </a:defRPr>
                      </a:pPr>
                      <a:r>
                        <a:t>Met portaal</a:t>
                      </a:r>
                    </a:p>
                  </a:txBody>
                  <a:tcPr>
                    <a:solidFill>
                      <a:srgbClr val="0074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Fysieke post (print + porto)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€10.000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Administratieve verwerking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~€5.000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~€1.000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  <a:latin typeface="Roboto Flex"/>
                        </a:defRPr>
                      </a:pPr>
                      <a:r>
                        <a:t>Telefonische vragen auteurs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E8734A"/>
                          </a:solidFill>
                          <a:latin typeface="Roboto Flex"/>
                        </a:defRPr>
                      </a:pPr>
                      <a:r>
                        <a:t>~€3.000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~€500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Totaal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€18.000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460"/>
                          </a:solidFill>
                          <a:latin typeface="Roboto Flex"/>
                        </a:defRPr>
                      </a:pPr>
                      <a:r>
                        <a:t>€1.500</a:t>
                      </a:r>
                    </a:p>
                  </a:txBody>
                  <a:tcPr>
                    <a:solidFill>
                      <a:srgbClr val="F0FAF7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9728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Besparing van €16.500 per jaar voor drie organisaties samen. Het portaal verdient zichzelf terug in jaar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460"/>
                </a:solidFill>
                <a:latin typeface="Roboto Flex"/>
              </a:defRPr>
            </a:pPr>
            <a:r>
              <a:t>INVESTERING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60"/>
                </a:solidFill>
                <a:latin typeface="Roboto Flex"/>
              </a:defRPr>
            </a:pPr>
            <a:r>
              <a:t>Wat kost het?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103120"/>
            <a:ext cx="47548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286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11827"/>
                </a:solidFill>
                <a:latin typeface="Roboto Flex"/>
              </a:defRPr>
            </a:pPr>
            <a:r>
              <a:t>Ontwikkeling &amp; implementatie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€19.000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eenmalig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4747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200 uur × €95/uur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31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Volledig werkend portaal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5195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Auteur- én admin-dashboard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572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Database setup met beveiliging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8920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Bulk import tooling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21207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Tweetalig (NL/EN)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532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✓  Documentatie &amp; overdracht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03120"/>
            <a:ext cx="4754880" cy="4114800"/>
          </a:xfrm>
          <a:prstGeom prst="roundRect">
            <a:avLst>
              <a:gd name="adj" fmla="val 4000"/>
            </a:avLst>
          </a:prstGeom>
          <a:solidFill>
            <a:srgbClr val="F0FAF7"/>
          </a:solidFill>
          <a:ln w="19050">
            <a:solidFill>
              <a:srgbClr val="007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463040" cy="320040"/>
          </a:xfrm>
          <a:prstGeom prst="roundRect">
            <a:avLst>
              <a:gd name="adj" fmla="val 50000"/>
            </a:avLst>
          </a:prstGeom>
          <a:solidFill>
            <a:srgbClr val="007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AANBEVOLEN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11827"/>
                </a:solidFill>
                <a:latin typeface="Roboto Flex"/>
              </a:defRPr>
            </a:pPr>
            <a:r>
              <a:t>Jaarlijkse licentie (per organisatie)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460"/>
                </a:solidFill>
                <a:latin typeface="Roboto Flex"/>
              </a:defRPr>
            </a:pPr>
            <a:r>
              <a:t>€5.000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Roboto Flex"/>
              </a:defRPr>
            </a:pPr>
            <a:r>
              <a:t>/jaar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4747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3 organisaties = €15.000/jaar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9319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Hosting &amp; infrastructuur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5195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Onderhoud &amp;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5720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Support &amp; bugfixes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8920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Branding per organisatie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212079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Data-migratie ondersteuning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5321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Roboto Flex"/>
              </a:defRPr>
            </a:pPr>
            <a:r>
              <a:t>✓  Nieuwe features op aanvraag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Roboto Flex"/>
              </a:defRPr>
            </a:pPr>
            <a:r>
              <a:t>Totale investering jaar 1: €34.000  ·  Jaarlijkse besparing: €16.500  ·  Terugverdientijd: &lt; 2 jaar  ·  Vanaf jaar 3: netto besparing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460"/>
              </a:gs>
              <a:gs pos="100000">
                <a:srgbClr val="003D33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Roboto Flex"/>
              </a:defRPr>
            </a:pPr>
            <a:r>
              <a:t>Klaar om te starten?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C8E6E1"/>
                </a:solidFill>
                <a:latin typeface="Roboto Flex"/>
              </a:defRPr>
            </a:pPr>
            <a:r>
              <a:t>Het portaal is gebouwd, getest en klaar voor productie.</a:t>
            </a:r>
            <a:br/>
            <a:r>
              <a:t>De volgende stap is implementatie met echte auteursdata.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4114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Roboto Flex"/>
              </a:defRPr>
            </a:pPr>
            <a: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4846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C8BE"/>
                </a:solidFill>
                <a:latin typeface="Roboto Flex"/>
              </a:defRPr>
            </a:pPr>
            <a:r>
              <a:t>Uur ontwikkeld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114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Roboto Flex"/>
              </a:defRPr>
            </a:pPr>
            <a:r>
              <a:t>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46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C8BE"/>
                </a:solidFill>
                <a:latin typeface="Roboto Flex"/>
              </a:defRPr>
            </a:pPr>
            <a:r>
              <a:t>Auteurs bereiken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114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Roboto Flex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846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C8BE"/>
                </a:solidFill>
                <a:latin typeface="Roboto Flex"/>
              </a:defRPr>
            </a:pPr>
            <a:r>
              <a:t>Organisaties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1148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Roboto Flex"/>
              </a:defRPr>
            </a:pPr>
            <a:r>
              <a:t>&lt; 2 jr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4846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C8BE"/>
                </a:solidFill>
                <a:latin typeface="Roboto Flex"/>
              </a:defRPr>
            </a:pPr>
            <a:r>
              <a:t>Terugverdientijd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