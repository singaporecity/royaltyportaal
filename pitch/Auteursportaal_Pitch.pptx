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07460"/>
              </a:gs>
              <a:gs pos="100000">
                <a:srgbClr val="00322A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828800"/>
            <a:ext cx="121916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FFFFFF"/>
                </a:solidFill>
                <a:latin typeface="Roboto Flex"/>
              </a:defRPr>
            </a:pPr>
            <a:r>
              <a:t>AUTEURSPORTAAL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2926080"/>
            <a:ext cx="7589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800" b="0">
                <a:solidFill>
                  <a:srgbClr val="BEE1DA"/>
                </a:solidFill>
                <a:latin typeface="Roboto Flex"/>
              </a:defRPr>
            </a:pPr>
            <a:r>
              <a:t>Het digitale platform voor royalty-afrekeningen,</a:t>
            </a:r>
          </a:p>
          <a:p>
            <a:pPr algn="ctr">
              <a:spcAft>
                <a:spcPts val="600"/>
              </a:spcAft>
              <a:defRPr sz="1800" b="0">
                <a:solidFill>
                  <a:srgbClr val="BEE1DA"/>
                </a:solidFill>
                <a:latin typeface="Roboto Flex"/>
              </a:defRPr>
            </a:pPr>
            <a:r>
              <a:t>contracten en prognoses van auteurs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4023360"/>
            <a:ext cx="2103120" cy="12700"/>
          </a:xfrm>
          <a:prstGeom prst="rect">
            <a:avLst/>
          </a:prstGeom>
          <a:solidFill>
            <a:srgbClr val="0096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438912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78B4A5"/>
                </a:solidFill>
                <a:latin typeface="Roboto Flex"/>
              </a:defRPr>
            </a:pPr>
            <a:r>
              <a:t>Noordhoff  ·  Liber  ·  Plantyn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566928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4A091"/>
                </a:solidFill>
                <a:latin typeface="Roboto Flex"/>
              </a:defRPr>
            </a:pPr>
            <a:r>
              <a:t>Patrick Jeeninga  —  Maart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731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7460"/>
                </a:solidFill>
                <a:latin typeface="Roboto Flex"/>
              </a:defRPr>
            </a:pPr>
            <a:r>
              <a:t>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0515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7460"/>
                </a:solidFill>
                <a:latin typeface="Roboto Flex"/>
              </a:defRPr>
            </a:pPr>
            <a:r>
              <a:t>Waarom nu?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2286000"/>
            <a:ext cx="4846320" cy="1828800"/>
          </a:xfrm>
          <a:prstGeom prst="roundRect">
            <a:avLst>
              <a:gd name="adj" fmla="val 4000"/>
            </a:avLst>
          </a:prstGeom>
          <a:solidFill>
            <a:srgbClr val="F0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63040" y="246888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7460"/>
                </a:solidFill>
                <a:latin typeface="Roboto Flex"/>
              </a:defRPr>
            </a:pPr>
            <a:r>
              <a:t>Aandeelhouders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2834640"/>
            <a:ext cx="4114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6B7280"/>
                </a:solidFill>
                <a:latin typeface="Roboto Flex"/>
              </a:defRPr>
            </a:pPr>
            <a:r>
              <a:t>De aandeelhouders van Noordhoff pushen actief op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6B7280"/>
                </a:solidFill>
                <a:latin typeface="Roboto Flex"/>
              </a:defRPr>
            </a:pPr>
            <a:r>
              <a:t>meer digitalisatie. Het Auteursportaal is een concrete,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6B7280"/>
                </a:solidFill>
                <a:latin typeface="Roboto Flex"/>
              </a:defRPr>
            </a:pPr>
            <a:r>
              <a:t>zichtbare stap die direct waarde levert.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2286000"/>
            <a:ext cx="4846320" cy="1828800"/>
          </a:xfrm>
          <a:prstGeom prst="roundRect">
            <a:avLst>
              <a:gd name="adj" fmla="val 4000"/>
            </a:avLst>
          </a:prstGeom>
          <a:solidFill>
            <a:srgbClr val="F0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0" y="246888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7460"/>
                </a:solidFill>
                <a:latin typeface="Roboto Flex"/>
              </a:defRPr>
            </a:pPr>
            <a:r>
              <a:t>Value Creation Plan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2834640"/>
            <a:ext cx="4114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6B7280"/>
                </a:solidFill>
                <a:latin typeface="Roboto Flex"/>
              </a:defRPr>
            </a:pPr>
            <a:r>
              <a:t>Dit portaal past direct binnen het Value Creation Plan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6B7280"/>
                </a:solidFill>
                <a:latin typeface="Roboto Flex"/>
              </a:defRPr>
            </a:pPr>
            <a:r>
              <a:t>als digitaal verbeterproject. Schaalbaar naar Liber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6B7280"/>
                </a:solidFill>
                <a:latin typeface="Roboto Flex"/>
              </a:defRPr>
            </a:pPr>
            <a:r>
              <a:t>en Plantyn zonder proportionele meerkosten.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97280" y="4480560"/>
            <a:ext cx="4846320" cy="1828800"/>
          </a:xfrm>
          <a:prstGeom prst="roundRect">
            <a:avLst>
              <a:gd name="adj" fmla="val 4000"/>
            </a:avLst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63040" y="466344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926000"/>
                </a:solidFill>
                <a:latin typeface="Roboto Flex"/>
              </a:defRPr>
            </a:pPr>
            <a:r>
              <a:t>Auteurstevredenheid onder druk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5029200"/>
            <a:ext cx="4114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6B7280"/>
                </a:solidFill>
                <a:latin typeface="Roboto Flex"/>
              </a:defRPr>
            </a:pPr>
            <a:r>
              <a:t>250 auteurs nemen jaarlijks contact op met vragen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6B7280"/>
                </a:solidFill>
                <a:latin typeface="Roboto Flex"/>
              </a:defRPr>
            </a:pPr>
            <a:r>
              <a:t>over hun afrekening. Onzekerheid door gebrek aan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6B7280"/>
                </a:solidFill>
                <a:latin typeface="Roboto Flex"/>
              </a:defRPr>
            </a:pPr>
            <a:r>
              <a:t>communicatie en transparantie.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4480560"/>
            <a:ext cx="4846320" cy="1828800"/>
          </a:xfrm>
          <a:prstGeom prst="roundRect">
            <a:avLst>
              <a:gd name="adj" fmla="val 4000"/>
            </a:avLst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0" y="466344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8734A"/>
                </a:solidFill>
                <a:latin typeface="Roboto Flex"/>
              </a:defRPr>
            </a:pPr>
            <a:r>
              <a:t>Concurrentiepositie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5029200"/>
            <a:ext cx="4114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6B7280"/>
                </a:solidFill>
                <a:latin typeface="Roboto Flex"/>
              </a:defRPr>
            </a:pPr>
            <a:r>
              <a:t>Auteurs vergelijken hun ervaring bij Noordhoff met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6B7280"/>
                </a:solidFill>
                <a:latin typeface="Roboto Flex"/>
              </a:defRPr>
            </a:pPr>
            <a:r>
              <a:t>andere uitgevers. Een modern portaal is een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6B7280"/>
                </a:solidFill>
                <a:latin typeface="Roboto Flex"/>
              </a:defRPr>
            </a:pPr>
            <a:r>
              <a:t>concurrentievoordeel bij het aantrekken van talent.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731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7460"/>
                </a:solidFill>
                <a:latin typeface="Roboto Flex"/>
              </a:defRPr>
            </a:pPr>
            <a:r>
              <a:t>HET PROBLEEM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0515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7460"/>
                </a:solidFill>
                <a:latin typeface="Roboto Flex"/>
              </a:defRPr>
            </a:pPr>
            <a:r>
              <a:t>Hoe ervaart de auteur het nu?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2286000"/>
            <a:ext cx="10058400" cy="1463040"/>
          </a:xfrm>
          <a:prstGeom prst="roundRect">
            <a:avLst>
              <a:gd name="adj" fmla="val 4000"/>
            </a:avLst>
          </a:prstGeom>
          <a:solidFill>
            <a:srgbClr val="F7F8FA"/>
          </a:solidFill>
          <a:ln w="190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63040" y="237744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007460"/>
                </a:solidFill>
                <a:latin typeface="Roboto Flex"/>
              </a:defRPr>
            </a:pPr>
            <a:r>
              <a:t>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20240" y="2560320"/>
            <a:ext cx="8686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500" b="0">
                <a:solidFill>
                  <a:srgbClr val="111827"/>
                </a:solidFill>
                <a:latin typeface="Roboto Flex"/>
              </a:defRPr>
            </a:pPr>
            <a:r>
              <a:t>Ik heb in maart een brief ontvangen, maar ik begrijp de berekening niet.</a:t>
            </a:r>
          </a:p>
          <a:p>
            <a:pPr algn="l">
              <a:spcAft>
                <a:spcPts val="500"/>
              </a:spcAft>
              <a:defRPr sz="1500" b="0">
                <a:solidFill>
                  <a:srgbClr val="111827"/>
                </a:solidFill>
                <a:latin typeface="Roboto Flex"/>
              </a:defRPr>
            </a:pPr>
            <a:r>
              <a:t>Kan iemand mij bellen? Ik wil ook graag weten of mijn contract nog loopt.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32918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Roboto Flex"/>
              </a:defRPr>
            </a:pPr>
            <a:r>
              <a:t>— Typische auteursvraag (1 van 250 per jaar)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7280" y="4206240"/>
            <a:ext cx="310896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63040" y="4434840"/>
            <a:ext cx="91440" cy="91440"/>
          </a:xfrm>
          <a:prstGeom prst="ellipse">
            <a:avLst/>
          </a:prstGeom>
          <a:solidFill>
            <a:srgbClr val="E87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1640" y="43434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Roboto Flex"/>
              </a:defRPr>
            </a:pPr>
            <a:r>
              <a:t>1 brief per jaar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4846320"/>
            <a:ext cx="2377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6B7280"/>
                </a:solidFill>
                <a:latin typeface="Roboto Flex"/>
              </a:defRPr>
            </a:pPr>
            <a:r>
              <a:t>De enige communicatie over royalties is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6B7280"/>
                </a:solidFill>
                <a:latin typeface="Roboto Flex"/>
              </a:defRPr>
            </a:pPr>
            <a:r>
              <a:t>een jaarlijkse brief in maart. De rest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6B7280"/>
                </a:solidFill>
                <a:latin typeface="Roboto Flex"/>
              </a:defRPr>
            </a:pPr>
            <a:r>
              <a:t>van het jaar: stilte.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60" y="4206240"/>
            <a:ext cx="310896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846320" y="4434840"/>
            <a:ext cx="91440" cy="91440"/>
          </a:xfrm>
          <a:prstGeom prst="ellipse">
            <a:avLst/>
          </a:prstGeom>
          <a:solidFill>
            <a:srgbClr val="E87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74920" y="43434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Roboto Flex"/>
              </a:defRPr>
            </a:pPr>
            <a:r>
              <a:t>Geen inzicht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0" y="4846320"/>
            <a:ext cx="2377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6B7280"/>
                </a:solidFill>
                <a:latin typeface="Roboto Flex"/>
              </a:defRPr>
            </a:pPr>
            <a:r>
              <a:t>Auteurs kunnen niet zelf opzoeken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6B7280"/>
                </a:solidFill>
                <a:latin typeface="Roboto Flex"/>
              </a:defRPr>
            </a:pPr>
            <a:r>
              <a:t>hoe hun methode presteert. Ze zijn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6B7280"/>
                </a:solidFill>
                <a:latin typeface="Roboto Flex"/>
              </a:defRPr>
            </a:pPr>
            <a:r>
              <a:t>volledig afhankelijk van Noordhoff.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63840" y="4206240"/>
            <a:ext cx="310896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229600" y="4434840"/>
            <a:ext cx="91440" cy="91440"/>
          </a:xfrm>
          <a:prstGeom prst="ellipse">
            <a:avLst/>
          </a:prstGeom>
          <a:solidFill>
            <a:srgbClr val="E87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58200" y="43434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Roboto Flex"/>
              </a:defRPr>
            </a:pPr>
            <a:r>
              <a:t>Onzekerheid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4846320"/>
            <a:ext cx="2377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6B7280"/>
                </a:solidFill>
                <a:latin typeface="Roboto Flex"/>
              </a:defRPr>
            </a:pPr>
            <a:r>
              <a:t>250 auteurs bellen of mailen jaarlijks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6B7280"/>
                </a:solidFill>
                <a:latin typeface="Roboto Flex"/>
              </a:defRPr>
            </a:pPr>
            <a:r>
              <a:t>met vragen. Dat is 10% van alle auteurs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6B7280"/>
                </a:solidFill>
                <a:latin typeface="Roboto Flex"/>
              </a:defRPr>
            </a:pPr>
            <a:r>
              <a:t>die actief onzeker is.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731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7460"/>
                </a:solidFill>
                <a:latin typeface="Roboto Flex"/>
              </a:defRPr>
            </a:pPr>
            <a:r>
              <a:t>HET PROBLEEM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0515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7460"/>
                </a:solidFill>
                <a:latin typeface="Roboto Flex"/>
              </a:defRPr>
            </a:pPr>
            <a:r>
              <a:t>Wat kost het Noordhoff nu?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2194560"/>
            <a:ext cx="228600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42316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007460"/>
                </a:solidFill>
                <a:latin typeface="Roboto Flex"/>
              </a:defRPr>
            </a:pPr>
            <a:r>
              <a:t>€10.000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9718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B7280"/>
                </a:solidFill>
                <a:latin typeface="Roboto Flex"/>
              </a:defRPr>
            </a:pPr>
            <a:r>
              <a:t>Postkosten per jaar</a:t>
            </a:r>
          </a:p>
          <a:p>
            <a:pPr algn="ctr">
              <a:defRPr sz="1000" b="0">
                <a:solidFill>
                  <a:srgbClr val="6B7280"/>
                </a:solidFill>
                <a:latin typeface="Roboto Flex"/>
              </a:defRPr>
            </a:pPr>
            <a:r>
              <a:t>(3 organisaties)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0" y="2194560"/>
            <a:ext cx="228600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0" y="242316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007460"/>
                </a:solidFill>
                <a:latin typeface="Roboto Flex"/>
              </a:defRPr>
            </a:pPr>
            <a:r>
              <a:t>32 uur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29718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B7280"/>
                </a:solidFill>
                <a:latin typeface="Roboto Flex"/>
              </a:defRPr>
            </a:pPr>
            <a:r>
              <a:t>Brieven inpakken</a:t>
            </a:r>
          </a:p>
          <a:p>
            <a:pPr algn="ctr">
              <a:defRPr sz="1000" b="0">
                <a:solidFill>
                  <a:srgbClr val="6B7280"/>
                </a:solidFill>
                <a:latin typeface="Roboto Flex"/>
              </a:defRPr>
            </a:pPr>
            <a:r>
              <a:t>(2 man × 2 dagen)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2194560"/>
            <a:ext cx="228600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0" y="242316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007460"/>
                </a:solidFill>
                <a:latin typeface="Roboto Flex"/>
              </a:defRPr>
            </a:pPr>
            <a:r>
              <a:t>250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29718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B7280"/>
                </a:solidFill>
                <a:latin typeface="Roboto Flex"/>
              </a:defRPr>
            </a:pPr>
            <a:r>
              <a:t>Auteurs met vragen</a:t>
            </a:r>
          </a:p>
          <a:p>
            <a:pPr algn="ctr">
              <a:defRPr sz="1000" b="0">
                <a:solidFill>
                  <a:srgbClr val="6B7280"/>
                </a:solidFill>
                <a:latin typeface="Roboto Flex"/>
              </a:defRPr>
            </a:pPr>
            <a:r>
              <a:t>per jaar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778240" y="2194560"/>
            <a:ext cx="228600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78240" y="242316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007460"/>
                </a:solidFill>
                <a:latin typeface="Roboto Flex"/>
              </a:defRPr>
            </a:pPr>
            <a:r>
              <a:t>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0" y="29718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B7280"/>
                </a:solidFill>
                <a:latin typeface="Roboto Flex"/>
              </a:defRPr>
            </a:pPr>
            <a:r>
              <a:t>Digitaal inzicht</a:t>
            </a:r>
          </a:p>
          <a:p>
            <a:pPr algn="ctr">
              <a:defRPr sz="1000" b="0">
                <a:solidFill>
                  <a:srgbClr val="6B7280"/>
                </a:solidFill>
                <a:latin typeface="Roboto Flex"/>
              </a:defRPr>
            </a:pPr>
            <a:r>
              <a:t>voor auteurs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40233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Roboto Flex"/>
              </a:defRPr>
            </a:pPr>
            <a:r>
              <a:t>Verborgen kosten die niet op de factuur staan:</a:t>
            </a:r>
          </a:p>
        </p:txBody>
      </p:sp>
      <p:sp>
        <p:nvSpPr>
          <p:cNvPr id="17" name="Oval 16"/>
          <p:cNvSpPr/>
          <p:nvPr/>
        </p:nvSpPr>
        <p:spPr>
          <a:xfrm>
            <a:off x="1280160" y="4590288"/>
            <a:ext cx="73152" cy="73152"/>
          </a:xfrm>
          <a:prstGeom prst="ellipse">
            <a:avLst/>
          </a:prstGeom>
          <a:solidFill>
            <a:srgbClr val="E87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508760" y="448056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11827"/>
                </a:solidFill>
                <a:latin typeface="Roboto Flex"/>
              </a:defRPr>
            </a:pPr>
            <a:r>
              <a:t>Afhandeling auteursvragen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448056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7280"/>
                </a:solidFill>
                <a:latin typeface="Roboto Flex"/>
              </a:defRPr>
            </a:pPr>
            <a:r>
              <a:t>250 vragen × gem. 30 min = 125 uur per jaar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448056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E8734A"/>
                </a:solidFill>
                <a:latin typeface="Roboto Flex"/>
              </a:defRPr>
            </a:pPr>
            <a:r>
              <a:t>~€5.000</a:t>
            </a:r>
          </a:p>
        </p:txBody>
      </p:sp>
      <p:sp>
        <p:nvSpPr>
          <p:cNvPr id="21" name="Oval 20"/>
          <p:cNvSpPr/>
          <p:nvPr/>
        </p:nvSpPr>
        <p:spPr>
          <a:xfrm>
            <a:off x="1280160" y="5093208"/>
            <a:ext cx="73152" cy="73152"/>
          </a:xfrm>
          <a:prstGeom prst="ellipse">
            <a:avLst/>
          </a:prstGeom>
          <a:solidFill>
            <a:srgbClr val="E87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508760" y="498348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11827"/>
                </a:solidFill>
                <a:latin typeface="Roboto Flex"/>
              </a:defRPr>
            </a:pPr>
            <a:r>
              <a:t>Fysieke verwerking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498348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7280"/>
                </a:solidFill>
                <a:latin typeface="Roboto Flex"/>
              </a:defRPr>
            </a:pPr>
            <a:r>
              <a:t>2 medewerkers × 2 dagen printen, vouwen, inpakken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498348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E8734A"/>
                </a:solidFill>
                <a:latin typeface="Roboto Flex"/>
              </a:defRPr>
            </a:pPr>
            <a:r>
              <a:t>~€2.500</a:t>
            </a:r>
          </a:p>
        </p:txBody>
      </p:sp>
      <p:sp>
        <p:nvSpPr>
          <p:cNvPr id="25" name="Oval 24"/>
          <p:cNvSpPr/>
          <p:nvPr/>
        </p:nvSpPr>
        <p:spPr>
          <a:xfrm>
            <a:off x="1280160" y="5596128"/>
            <a:ext cx="73152" cy="73152"/>
          </a:xfrm>
          <a:prstGeom prst="ellipse">
            <a:avLst/>
          </a:prstGeom>
          <a:solidFill>
            <a:srgbClr val="E87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508760" y="548640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11827"/>
                </a:solidFill>
                <a:latin typeface="Roboto Flex"/>
              </a:defRPr>
            </a:pPr>
            <a:r>
              <a:t>Reputatierisico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54880" y="548640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7280"/>
                </a:solidFill>
                <a:latin typeface="Roboto Flex"/>
              </a:defRPr>
            </a:pPr>
            <a:r>
              <a:t>Auteurs ervaren Noordhoff als ouderwets en niet-transparant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0" y="548640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E8734A"/>
                </a:solidFill>
                <a:latin typeface="Roboto Flex"/>
              </a:defRPr>
            </a:pPr>
            <a:r>
              <a:t>—</a:t>
            </a:r>
          </a:p>
        </p:txBody>
      </p:sp>
      <p:sp>
        <p:nvSpPr>
          <p:cNvPr id="29" name="Oval 28"/>
          <p:cNvSpPr/>
          <p:nvPr/>
        </p:nvSpPr>
        <p:spPr>
          <a:xfrm>
            <a:off x="1280160" y="6099048"/>
            <a:ext cx="73152" cy="73152"/>
          </a:xfrm>
          <a:prstGeom prst="ellipse">
            <a:avLst/>
          </a:prstGeom>
          <a:solidFill>
            <a:srgbClr val="E87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508760" y="598932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11827"/>
                </a:solidFill>
                <a:latin typeface="Roboto Flex"/>
              </a:defRPr>
            </a:pPr>
            <a:r>
              <a:t>Auteursverlies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54880" y="59893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7280"/>
                </a:solidFill>
                <a:latin typeface="Roboto Flex"/>
              </a:defRPr>
            </a:pPr>
            <a:r>
              <a:t>Frustratie leidt tot overstap naar concurrent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0" y="598932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E8734A"/>
                </a:solidFill>
                <a:latin typeface="Roboto Flex"/>
              </a:defRPr>
            </a:pPr>
            <a:r>
              <a:t>—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97280" y="6492240"/>
            <a:ext cx="10058400" cy="12700"/>
          </a:xfrm>
          <a:prstGeom prst="rect">
            <a:avLst/>
          </a:prstGeom>
          <a:solidFill>
            <a:srgbClr val="007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97280" y="65379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7460"/>
                </a:solidFill>
                <a:latin typeface="Roboto Flex"/>
              </a:defRPr>
            </a:pPr>
            <a:r>
              <a:t>Totale kosten huidige situatie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012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007460"/>
                </a:solidFill>
                <a:latin typeface="Roboto Flex"/>
              </a:defRPr>
            </a:pPr>
            <a:r>
              <a:t>~€18.000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731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7460"/>
                </a:solidFill>
                <a:latin typeface="Roboto Flex"/>
              </a:defRPr>
            </a:pPr>
            <a:r>
              <a:t>DE TRANSFORMATIE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0515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7460"/>
                </a:solidFill>
                <a:latin typeface="Roboto Flex"/>
              </a:defRPr>
            </a:pPr>
            <a:r>
              <a:t>Van papier naar portaal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2194560"/>
            <a:ext cx="4572000" cy="4114800"/>
          </a:xfrm>
          <a:prstGeom prst="roundRect">
            <a:avLst>
              <a:gd name="adj" fmla="val 4000"/>
            </a:avLst>
          </a:prstGeom>
          <a:solidFill>
            <a:srgbClr val="FEF2F2"/>
          </a:solidFill>
          <a:ln w="1905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63040" y="23774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8734A"/>
                </a:solidFill>
                <a:latin typeface="Roboto Flex"/>
              </a:defRPr>
            </a:pPr>
            <a:r>
              <a:t>Nu: fysieke post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301752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7280"/>
                </a:solidFill>
                <a:latin typeface="Roboto Flex"/>
              </a:defRPr>
            </a:pPr>
            <a:r>
              <a:t>✗  1× per jaar een royalty-brief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3401568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7280"/>
                </a:solidFill>
                <a:latin typeface="Roboto Flex"/>
              </a:defRPr>
            </a:pPr>
            <a:r>
              <a:t>✗  Geen tussentijds inzicht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3785615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7280"/>
                </a:solidFill>
                <a:latin typeface="Roboto Flex"/>
              </a:defRPr>
            </a:pPr>
            <a:r>
              <a:t>✗  Vragen via email en telefoon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4169663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7280"/>
                </a:solidFill>
                <a:latin typeface="Roboto Flex"/>
              </a:defRPr>
            </a:pPr>
            <a:r>
              <a:t>✗  Contracten in archiefkast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4553712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7280"/>
                </a:solidFill>
                <a:latin typeface="Roboto Flex"/>
              </a:defRPr>
            </a:pPr>
            <a:r>
              <a:t>✗  Geen prognose mogelijk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493776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7280"/>
                </a:solidFill>
                <a:latin typeface="Roboto Flex"/>
              </a:defRPr>
            </a:pPr>
            <a:r>
              <a:t>✗  Gegevenswijziging per formulier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5321808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7280"/>
                </a:solidFill>
                <a:latin typeface="Roboto Flex"/>
              </a:defRPr>
            </a:pPr>
            <a:r>
              <a:t>✗  Brieven handmatig inpakken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5705856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7280"/>
                </a:solidFill>
                <a:latin typeface="Roboto Flex"/>
              </a:defRPr>
            </a:pPr>
            <a:r>
              <a:t>✗  Geen inzicht in auteuractiviteit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23560" y="3840480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07460"/>
                </a:solidFill>
                <a:latin typeface="Roboto Flex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92240" y="2194560"/>
            <a:ext cx="4572000" cy="4114800"/>
          </a:xfrm>
          <a:prstGeom prst="roundRect">
            <a:avLst>
              <a:gd name="adj" fmla="val 4000"/>
            </a:avLst>
          </a:prstGeom>
          <a:solidFill>
            <a:srgbClr val="F0FDF4"/>
          </a:solidFill>
          <a:ln w="1905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0" y="23774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7460"/>
                </a:solidFill>
                <a:latin typeface="Roboto Flex"/>
              </a:defRPr>
            </a:pPr>
            <a:r>
              <a:t>Straks: het Auteursportaal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301752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11827"/>
                </a:solidFill>
                <a:latin typeface="Roboto Flex"/>
              </a:defRPr>
            </a:pPr>
            <a:r>
              <a:t>✓  24/7 inzicht in afrekeningen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3401568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11827"/>
                </a:solidFill>
                <a:latin typeface="Roboto Flex"/>
              </a:defRPr>
            </a:pPr>
            <a:r>
              <a:t>✓  Realtime royalty-overzicht per jaar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3785615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11827"/>
                </a:solidFill>
                <a:latin typeface="Roboto Flex"/>
              </a:defRPr>
            </a:pPr>
            <a:r>
              <a:t>✓  FAQ en rondleiding in het portaal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0" y="4169663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11827"/>
                </a:solidFill>
                <a:latin typeface="Roboto Flex"/>
              </a:defRPr>
            </a:pPr>
            <a:r>
              <a:t>✓  Contracten direct inzien en downloaden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4553712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11827"/>
                </a:solidFill>
                <a:latin typeface="Roboto Flex"/>
              </a:defRPr>
            </a:pPr>
            <a:r>
              <a:t>✓  Prognose met min/max range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493776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11827"/>
                </a:solidFill>
                <a:latin typeface="Roboto Flex"/>
              </a:defRPr>
            </a:pPr>
            <a:r>
              <a:t>✓  Wijzigingen digitaal aanvragen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0" y="5321808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11827"/>
                </a:solidFill>
                <a:latin typeface="Roboto Flex"/>
              </a:defRPr>
            </a:pPr>
            <a:r>
              <a:t>✓  Bulk upload + automatisch versturen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0" y="5705856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11827"/>
                </a:solidFill>
                <a:latin typeface="Roboto Flex"/>
              </a:defRPr>
            </a:pPr>
            <a:r>
              <a:t>✓  Activiteiten feed voor admin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731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7460"/>
                </a:solidFill>
                <a:latin typeface="Roboto Flex"/>
              </a:defRPr>
            </a:pPr>
            <a:r>
              <a:t>DE OPLOSSING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0515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7460"/>
                </a:solidFill>
                <a:latin typeface="Roboto Flex"/>
              </a:defRPr>
            </a:pPr>
            <a:r>
              <a:t>Eén portaal, twee dashboards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2194560"/>
            <a:ext cx="4846320" cy="4206240"/>
          </a:xfrm>
          <a:prstGeom prst="roundRect">
            <a:avLst>
              <a:gd name="adj" fmla="val 4000"/>
            </a:avLst>
          </a:prstGeom>
          <a:solidFill>
            <a:srgbClr val="F0FAF7"/>
          </a:solidFill>
          <a:ln w="19050">
            <a:solidFill>
              <a:srgbClr val="0074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63040" y="237744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7460"/>
                </a:solidFill>
                <a:latin typeface="Roboto Flex"/>
              </a:defRPr>
            </a:pPr>
            <a:r>
              <a:t>Auteursdashboard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283464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B7280"/>
                </a:solidFill>
                <a:latin typeface="Roboto Flex"/>
              </a:defRPr>
            </a:pPr>
            <a:r>
              <a:t>Wat de auteur ziet: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324612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11827"/>
                </a:solidFill>
                <a:latin typeface="Roboto Flex"/>
              </a:defRPr>
            </a:pPr>
            <a:r>
              <a:t>·  Jaaroverzicht met royalty-totalen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3611879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11827"/>
                </a:solidFill>
                <a:latin typeface="Roboto Flex"/>
              </a:defRPr>
            </a:pPr>
            <a:r>
              <a:t>·  Afrekeningen zoeken, filteren, downloaden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3977639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11827"/>
                </a:solidFill>
                <a:latin typeface="Roboto Flex"/>
              </a:defRPr>
            </a:pPr>
            <a:r>
              <a:t>·  Contracten inzien met PDF preview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434340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11827"/>
                </a:solidFill>
                <a:latin typeface="Roboto Flex"/>
              </a:defRPr>
            </a:pPr>
            <a:r>
              <a:t>·  Prognose komend jaar (min—max)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470916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11827"/>
                </a:solidFill>
                <a:latin typeface="Roboto Flex"/>
              </a:defRPr>
            </a:pPr>
            <a:r>
              <a:t>·  Declaraties indienen met PDF upload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507492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11827"/>
                </a:solidFill>
                <a:latin typeface="Roboto Flex"/>
              </a:defRPr>
            </a:pPr>
            <a:r>
              <a:t>·  Persoonlijke gegevens beheren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544068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11827"/>
                </a:solidFill>
                <a:latin typeface="Roboto Flex"/>
              </a:defRPr>
            </a:pPr>
            <a:r>
              <a:t>·  Interactieve royalty-grafiek per type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580644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11827"/>
                </a:solidFill>
                <a:latin typeface="Roboto Flex"/>
              </a:defRPr>
            </a:pPr>
            <a:r>
              <a:t>·  FAQ, guided tour, command palette (⌘K)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2194560"/>
            <a:ext cx="4846320" cy="4206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5120" y="237744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11827"/>
                </a:solidFill>
                <a:latin typeface="Roboto Flex"/>
              </a:defRPr>
            </a:pPr>
            <a:r>
              <a:t>Admin Dashboard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283464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B7280"/>
                </a:solidFill>
                <a:latin typeface="Roboto Flex"/>
              </a:defRPr>
            </a:pPr>
            <a:r>
              <a:t>Wat de beheerder ziet: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324612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11827"/>
                </a:solidFill>
                <a:latin typeface="Roboto Flex"/>
              </a:defRPr>
            </a:pPr>
            <a:r>
              <a:t>·  Overzicht van alle auteurs met zoekfunctie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3611879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11827"/>
                </a:solidFill>
                <a:latin typeface="Roboto Flex"/>
              </a:defRPr>
            </a:pPr>
            <a:r>
              <a:t>·  Per auteur: gegevens, contracten, afrekeningen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3977639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11827"/>
                </a:solidFill>
                <a:latin typeface="Roboto Flex"/>
              </a:defRPr>
            </a:pPr>
            <a:r>
              <a:t>·  Wijzigingsverzoeken goedkeuren/afwijzen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434340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11827"/>
                </a:solidFill>
                <a:latin typeface="Roboto Flex"/>
              </a:defRPr>
            </a:pPr>
            <a:r>
              <a:t>·  Bulk PDF upload voor afrekeningen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470916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11827"/>
                </a:solidFill>
                <a:latin typeface="Roboto Flex"/>
              </a:defRPr>
            </a:pPr>
            <a:r>
              <a:t>·  CSV import voor nieuwe auteurs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0" y="507492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11827"/>
                </a:solidFill>
                <a:latin typeface="Roboto Flex"/>
              </a:defRPr>
            </a:pPr>
            <a:r>
              <a:t>·  Evenementen en nieuws beheren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0" y="544068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11827"/>
                </a:solidFill>
                <a:latin typeface="Roboto Flex"/>
              </a:defRPr>
            </a:pPr>
            <a:r>
              <a:t>·  Activiteiten feed (logins, wijzigingen)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580644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11827"/>
                </a:solidFill>
                <a:latin typeface="Roboto Flex"/>
              </a:defRPr>
            </a:pPr>
            <a:r>
              <a:t>·  E-mail notificatie instellingen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07460"/>
              </a:gs>
              <a:gs pos="100000">
                <a:srgbClr val="00322A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286000"/>
            <a:ext cx="121916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Roboto Flex"/>
              </a:defRPr>
            </a:pPr>
            <a:r>
              <a:t>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3383280"/>
            <a:ext cx="7589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800" b="0">
                <a:solidFill>
                  <a:srgbClr val="BEE1DA"/>
                </a:solidFill>
                <a:latin typeface="Roboto Flex"/>
              </a:defRPr>
            </a:pPr>
            <a:r>
              <a:t>Laat me u tonen hoe het portaal eruitziet</a:t>
            </a:r>
          </a:p>
          <a:p>
            <a:pPr algn="ctr">
              <a:spcAft>
                <a:spcPts val="600"/>
              </a:spcAft>
              <a:defRPr sz="1800" b="0">
                <a:solidFill>
                  <a:srgbClr val="BEE1DA"/>
                </a:solidFill>
                <a:latin typeface="Roboto Flex"/>
              </a:defRPr>
            </a:pPr>
            <a:r>
              <a:t>voor auteur Patrick Jeeninga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0" y="43891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4DCD2"/>
                </a:solidFill>
                <a:latin typeface="Roboto Flex"/>
              </a:defRPr>
            </a:pPr>
            <a:r>
              <a:t>1.  Inloggen als auteur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47548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4DCD2"/>
                </a:solidFill>
                <a:latin typeface="Roboto Flex"/>
              </a:defRPr>
            </a:pPr>
            <a:r>
              <a:t>2.  Jaaroverzicht &amp; royalty-grafiek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51206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4DCD2"/>
                </a:solidFill>
                <a:latin typeface="Roboto Flex"/>
              </a:defRPr>
            </a:pPr>
            <a:r>
              <a:t>3.  Afrekening openen (echte PDF)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54864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4DCD2"/>
                </a:solidFill>
                <a:latin typeface="Roboto Flex"/>
              </a:defRPr>
            </a:pPr>
            <a:r>
              <a:t>4.  Contract bekijken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58521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4DCD2"/>
                </a:solidFill>
                <a:latin typeface="Roboto Flex"/>
              </a:defRPr>
            </a:pPr>
            <a:r>
              <a:t>5.  Prognose &amp; declaraties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731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7460"/>
                </a:solidFill>
                <a:latin typeface="Roboto Flex"/>
              </a:defRPr>
            </a:pPr>
            <a:r>
              <a:t>SCHAALBAARHEID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0515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7460"/>
                </a:solidFill>
                <a:latin typeface="Roboto Flex"/>
              </a:defRPr>
            </a:pPr>
            <a:r>
              <a:t>Eén platform, drie organisaties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2286000"/>
            <a:ext cx="3108960" cy="2286000"/>
          </a:xfrm>
          <a:prstGeom prst="roundRect">
            <a:avLst>
              <a:gd name="adj" fmla="val 4000"/>
            </a:avLst>
          </a:prstGeom>
          <a:solidFill>
            <a:srgbClr val="F0FAF7"/>
          </a:solidFill>
          <a:ln w="19050">
            <a:solidFill>
              <a:srgbClr val="0074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63040" y="24688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460"/>
                </a:solidFill>
                <a:latin typeface="Roboto Flex"/>
              </a:defRPr>
            </a:pPr>
            <a:r>
              <a:t>Noordhoff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292608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Roboto Flex"/>
              </a:defRPr>
            </a:pPr>
            <a:r>
              <a:t>2.500 auteurs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3291840"/>
            <a:ext cx="2377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6B7280"/>
                </a:solidFill>
                <a:latin typeface="Roboto Flex"/>
              </a:defRPr>
            </a:pPr>
            <a:r>
              <a:t>Primair, voortgezet onderwijs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6B7280"/>
                </a:solidFill>
                <a:latin typeface="Roboto Flex"/>
              </a:defRPr>
            </a:pPr>
            <a:r>
              <a:t>en mbo/hbo in Nederland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0" y="2286000"/>
            <a:ext cx="310896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37760" y="24688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460"/>
                </a:solidFill>
                <a:latin typeface="Roboto Flex"/>
              </a:defRPr>
            </a:pPr>
            <a:r>
              <a:t>Liber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292608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Roboto Flex"/>
              </a:defRPr>
            </a:pPr>
            <a:r>
              <a:t>~1.500 auteurs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3291840"/>
            <a:ext cx="2377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6B7280"/>
                </a:solidFill>
                <a:latin typeface="Roboto Flex"/>
              </a:defRPr>
            </a:pPr>
            <a:r>
              <a:t>Educatieve uitgeverij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6B7280"/>
                </a:solidFill>
                <a:latin typeface="Roboto Flex"/>
              </a:defRPr>
            </a:pPr>
            <a:r>
              <a:t>in Zweden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19" y="2286000"/>
            <a:ext cx="310896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79" y="24688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460"/>
                </a:solidFill>
                <a:latin typeface="Roboto Flex"/>
              </a:defRPr>
            </a:pPr>
            <a:r>
              <a:t>Plantyn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79" y="292608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Roboto Flex"/>
              </a:defRPr>
            </a:pPr>
            <a:r>
              <a:t>~1.000 auteurs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79" y="3291840"/>
            <a:ext cx="2377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6B7280"/>
                </a:solidFill>
                <a:latin typeface="Roboto Flex"/>
              </a:defRPr>
            </a:pPr>
            <a:r>
              <a:t>Educatieve uitgeverij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6B7280"/>
                </a:solidFill>
                <a:latin typeface="Roboto Flex"/>
              </a:defRPr>
            </a:pPr>
            <a:r>
              <a:t>in België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50292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7460"/>
                </a:solidFill>
                <a:latin typeface="Roboto Flex"/>
              </a:defRPr>
            </a:pPr>
            <a:r>
              <a:t>White-label ready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4406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300" b="0">
                <a:solidFill>
                  <a:srgbClr val="6B7280"/>
                </a:solidFill>
                <a:latin typeface="Roboto Flex"/>
              </a:defRPr>
            </a:pPr>
            <a:r>
              <a:t>Elke organisatie krijgt een eigen huisstijl (logo, kleuren), eigen auteurs-database en eigen admin.</a:t>
            </a:r>
          </a:p>
          <a:p>
            <a:pPr algn="l">
              <a:spcAft>
                <a:spcPts val="500"/>
              </a:spcAft>
              <a:defRPr sz="1300" b="0">
                <a:solidFill>
                  <a:srgbClr val="6B7280"/>
                </a:solidFill>
                <a:latin typeface="Roboto Flex"/>
              </a:defRPr>
            </a:pPr>
            <a:r>
              <a:t>De onderliggende technologie is identiek — updates worden één keer gebouwd en rollen uit naar alle drie.</a:t>
            </a:r>
          </a:p>
          <a:p>
            <a:pPr algn="l">
              <a:spcAft>
                <a:spcPts val="500"/>
              </a:spcAft>
              <a:defRPr sz="1300" b="0">
                <a:solidFill>
                  <a:srgbClr val="6B7280"/>
                </a:solidFill>
                <a:latin typeface="Roboto Flex"/>
              </a:defRPr>
            </a:pPr>
            <a:r>
              <a:t>Geen extra ontwikkelkosten per organisatie, alleen configuratie en data-migratie.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731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7460"/>
                </a:solidFill>
                <a:latin typeface="Roboto Flex"/>
              </a:defRPr>
            </a:pPr>
            <a:r>
              <a:t>BUSINESSCASE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0515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7460"/>
                </a:solidFill>
                <a:latin typeface="Roboto Flex"/>
              </a:defRPr>
            </a:pPr>
            <a:r>
              <a:t>Return on Investment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2103120"/>
            <a:ext cx="228600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33172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007460"/>
                </a:solidFill>
                <a:latin typeface="Roboto Flex"/>
              </a:defRPr>
            </a:pPr>
            <a:r>
              <a:t>€10.000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8803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B7280"/>
                </a:solidFill>
                <a:latin typeface="Roboto Flex"/>
              </a:defRPr>
            </a:pPr>
            <a:r>
              <a:t>Postkosten bespaard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0" y="2103120"/>
            <a:ext cx="228600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0" y="233172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007460"/>
                </a:solidFill>
                <a:latin typeface="Roboto Flex"/>
              </a:defRPr>
            </a:pPr>
            <a:r>
              <a:t>€5.000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28803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B7280"/>
                </a:solidFill>
                <a:latin typeface="Roboto Flex"/>
              </a:defRPr>
            </a:pPr>
            <a:r>
              <a:t>Minder auteursvragen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2103120"/>
            <a:ext cx="228600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0" y="233172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007460"/>
                </a:solidFill>
                <a:latin typeface="Roboto Flex"/>
              </a:defRPr>
            </a:pPr>
            <a:r>
              <a:t>€2.500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28803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B7280"/>
                </a:solidFill>
                <a:latin typeface="Roboto Flex"/>
              </a:defRPr>
            </a:pPr>
            <a:r>
              <a:t>Verwerking bespaard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778240" y="2103120"/>
            <a:ext cx="2286000" cy="1371600"/>
          </a:xfrm>
          <a:prstGeom prst="roundRect">
            <a:avLst>
              <a:gd name="adj" fmla="val 4000"/>
            </a:avLst>
          </a:prstGeom>
          <a:solidFill>
            <a:srgbClr val="007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78240" y="233172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FFFFF"/>
                </a:solidFill>
                <a:latin typeface="Roboto Flex"/>
              </a:defRPr>
            </a:pPr>
            <a:r>
              <a:t>€17.500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0" y="28803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4DCD2"/>
                </a:solidFill>
                <a:latin typeface="Roboto Flex"/>
              </a:defRPr>
            </a:pPr>
            <a:r>
              <a:t>Totale besparing/jaar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1097280" y="3931920"/>
          <a:ext cx="100584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2514600"/>
                <a:gridCol w="2514600"/>
              </a:tblGrid>
              <a:tr h="42672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Roboto Flex"/>
                        </a:defRPr>
                      </a:pPr>
                    </a:p>
                  </a:txBody>
                  <a:tcPr>
                    <a:solidFill>
                      <a:srgbClr val="0074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Roboto Flex"/>
                        </a:defRPr>
                      </a:pPr>
                      <a:r>
                        <a:t>Huidig (per jaar)</a:t>
                      </a:r>
                    </a:p>
                  </a:txBody>
                  <a:tcPr>
                    <a:solidFill>
                      <a:srgbClr val="0074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Roboto Flex"/>
                        </a:defRPr>
                      </a:pPr>
                      <a:r>
                        <a:t>Met portaal</a:t>
                      </a:r>
                    </a:p>
                  </a:txBody>
                  <a:tcPr>
                    <a:solidFill>
                      <a:srgbClr val="007460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827"/>
                          </a:solidFill>
                          <a:latin typeface="Roboto Flex"/>
                        </a:defRPr>
                      </a:pPr>
                      <a:r>
                        <a:t>Fysieke post (print + porto + verzending)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E8734A"/>
                          </a:solidFill>
                          <a:latin typeface="Roboto Flex"/>
                        </a:defRPr>
                      </a:pPr>
                      <a:r>
                        <a:t>€10.000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07460"/>
                          </a:solidFill>
                          <a:latin typeface="Roboto Flex"/>
                        </a:defRPr>
                      </a:pPr>
                      <a:r>
                        <a:t>€0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827"/>
                          </a:solidFill>
                          <a:latin typeface="Roboto Flex"/>
                        </a:defRPr>
                      </a:pPr>
                      <a:r>
                        <a:t>Afhandeling auteursvragen (125 uur)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E8734A"/>
                          </a:solidFill>
                          <a:latin typeface="Roboto Flex"/>
                        </a:defRPr>
                      </a:pPr>
                      <a:r>
                        <a:t>€5.000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07460"/>
                          </a:solidFill>
                          <a:latin typeface="Roboto Flex"/>
                        </a:defRPr>
                      </a:pPr>
                      <a:r>
                        <a:t>€500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827"/>
                          </a:solidFill>
                          <a:latin typeface="Roboto Flex"/>
                        </a:defRPr>
                      </a:pPr>
                      <a:r>
                        <a:t>Fysieke verwerking (32 uur)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E8734A"/>
                          </a:solidFill>
                          <a:latin typeface="Roboto Flex"/>
                        </a:defRPr>
                      </a:pPr>
                      <a:r>
                        <a:t>€2.500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07460"/>
                          </a:solidFill>
                          <a:latin typeface="Roboto Flex"/>
                        </a:defRPr>
                      </a:pPr>
                      <a:r>
                        <a:t>€0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827"/>
                          </a:solidFill>
                          <a:latin typeface="Roboto Flex"/>
                        </a:defRPr>
                      </a:pPr>
                      <a:r>
                        <a:t>Auteursbehoud &amp; tevredenheid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E8734A"/>
                          </a:solidFill>
                          <a:latin typeface="Roboto Flex"/>
                        </a:defRPr>
                      </a:pPr>
                      <a:r>
                        <a:t>Risico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07460"/>
                          </a:solidFill>
                          <a:latin typeface="Roboto Flex"/>
                        </a:defRPr>
                      </a:pPr>
                      <a:r>
                        <a:t>Geborgd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07460"/>
                          </a:solidFill>
                          <a:latin typeface="Roboto Flex"/>
                        </a:defRPr>
                      </a:pPr>
                      <a:r>
                        <a:t>Totale kosten</a:t>
                      </a:r>
                    </a:p>
                  </a:txBody>
                  <a:tcPr>
                    <a:solidFill>
                      <a:srgbClr val="F0FA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07460"/>
                          </a:solidFill>
                          <a:latin typeface="Roboto Flex"/>
                        </a:defRPr>
                      </a:pPr>
                      <a:r>
                        <a:t>€17.500+</a:t>
                      </a:r>
                    </a:p>
                  </a:txBody>
                  <a:tcPr>
                    <a:solidFill>
                      <a:srgbClr val="F0FA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07460"/>
                          </a:solidFill>
                          <a:latin typeface="Roboto Flex"/>
                        </a:defRPr>
                      </a:pPr>
                      <a:r>
                        <a:t>€500</a:t>
                      </a:r>
                    </a:p>
                  </a:txBody>
                  <a:tcPr>
                    <a:solidFill>
                      <a:srgbClr val="F0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731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7460"/>
                </a:solidFill>
                <a:latin typeface="Roboto Flex"/>
              </a:defRPr>
            </a:pPr>
            <a:r>
              <a:t>INVESTERING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0515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7460"/>
                </a:solidFill>
                <a:latin typeface="Roboto Flex"/>
              </a:defRPr>
            </a:pPr>
            <a:r>
              <a:t>Wat kost het?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2103120"/>
            <a:ext cx="4754880" cy="3840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63040" y="228600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11827"/>
                </a:solidFill>
                <a:latin typeface="Roboto Flex"/>
              </a:defRPr>
            </a:pPr>
            <a:r>
              <a:t>Ontwikkeling &amp; implementatie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274320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7460"/>
                </a:solidFill>
                <a:latin typeface="Roboto Flex"/>
              </a:defRPr>
            </a:pPr>
            <a:r>
              <a:t>€19.000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29718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280"/>
                </a:solidFill>
                <a:latin typeface="Roboto Flex"/>
              </a:defRPr>
            </a:pPr>
            <a:r>
              <a:t>eenmalig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3383280"/>
            <a:ext cx="4023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Roboto Flex"/>
              </a:defRPr>
            </a:pPr>
            <a:r>
              <a:t>200 uur × €95/uur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3794760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Roboto Flex"/>
              </a:defRPr>
            </a:pPr>
            <a:r>
              <a:t>✓  Volledig werkend portaal (auteur + admin)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4114800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Roboto Flex"/>
              </a:defRPr>
            </a:pPr>
            <a:r>
              <a:t>✓  Database met Row Level Security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4434840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Roboto Flex"/>
              </a:defRPr>
            </a:pPr>
            <a:r>
              <a:t>✓  Bulk import tooling (CSV + PDF)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4754880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Roboto Flex"/>
              </a:defRPr>
            </a:pPr>
            <a:r>
              <a:t>✓  Tweetalig (NL/EN)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5074920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Roboto Flex"/>
              </a:defRPr>
            </a:pPr>
            <a:r>
              <a:t>✓  Responsive (desktop, tablet, mobiel)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5394960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Roboto Flex"/>
              </a:defRPr>
            </a:pPr>
            <a:r>
              <a:t>✓  Documentatie &amp; overdracht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2103120"/>
            <a:ext cx="4754880" cy="3840480"/>
          </a:xfrm>
          <a:prstGeom prst="roundRect">
            <a:avLst>
              <a:gd name="adj" fmla="val 4000"/>
            </a:avLst>
          </a:prstGeom>
          <a:solidFill>
            <a:srgbClr val="F0FAF7"/>
          </a:solidFill>
          <a:ln w="19050">
            <a:solidFill>
              <a:srgbClr val="0074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675120" y="1874519"/>
            <a:ext cx="1463040" cy="292608"/>
          </a:xfrm>
          <a:prstGeom prst="roundRect">
            <a:avLst>
              <a:gd name="adj" fmla="val 50000"/>
            </a:avLst>
          </a:prstGeom>
          <a:solidFill>
            <a:srgbClr val="007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AANBEVOLEN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228600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11827"/>
                </a:solidFill>
                <a:latin typeface="Roboto Flex"/>
              </a:defRPr>
            </a:pPr>
            <a:r>
              <a:t>Jaarlijkse licentie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274320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7460"/>
                </a:solidFill>
                <a:latin typeface="Roboto Flex"/>
              </a:defRPr>
            </a:pPr>
            <a:r>
              <a:t>€5.000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29718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280"/>
                </a:solidFill>
                <a:latin typeface="Roboto Flex"/>
              </a:defRPr>
            </a:pPr>
            <a:r>
              <a:t>/jaar/organisatie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3383280"/>
            <a:ext cx="4023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Roboto Flex"/>
              </a:defRPr>
            </a:pPr>
            <a:r>
              <a:t>3 organisaties = €15.000/jaar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3794760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11827"/>
                </a:solidFill>
                <a:latin typeface="Roboto Flex"/>
              </a:defRPr>
            </a:pPr>
            <a:r>
              <a:t>✓  Hosting &amp; infrastructuur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4114800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11827"/>
                </a:solidFill>
                <a:latin typeface="Roboto Flex"/>
              </a:defRPr>
            </a:pPr>
            <a:r>
              <a:t>✓  Onderhoud, updates &amp; bugfixes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0" y="4434840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11827"/>
                </a:solidFill>
                <a:latin typeface="Roboto Flex"/>
              </a:defRPr>
            </a:pPr>
            <a:r>
              <a:t>✓  Support (mail + telefoon)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0" y="4754880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11827"/>
                </a:solidFill>
                <a:latin typeface="Roboto Flex"/>
              </a:defRPr>
            </a:pPr>
            <a:r>
              <a:t>✓  Branding per organisatie (white-label)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5074920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11827"/>
                </a:solidFill>
                <a:latin typeface="Roboto Flex"/>
              </a:defRPr>
            </a:pPr>
            <a:r>
              <a:t>✓  Data-migratie ondersteuning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0" y="5394960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11827"/>
                </a:solidFill>
                <a:latin typeface="Roboto Flex"/>
              </a:defRPr>
            </a:pPr>
            <a:r>
              <a:t>✓  Nieuwe features op aanvraag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97280" y="6217920"/>
            <a:ext cx="10058400" cy="457200"/>
          </a:xfrm>
          <a:prstGeom prst="roundRect">
            <a:avLst>
              <a:gd name="adj" fmla="val 4000"/>
            </a:avLst>
          </a:prstGeom>
          <a:solidFill>
            <a:srgbClr val="F7F8FA"/>
          </a:solidFill>
          <a:ln w="190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371600" y="626364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7460"/>
                </a:solidFill>
                <a:latin typeface="Roboto Flex"/>
              </a:defRPr>
            </a:pPr>
            <a:r>
              <a:t>Jaar 1: €34.000  ·  Besparing: €17.500  ·  Netto: €16.500  |  Vanaf jaar 2: €15.000 licentie vs €17.500 besparing = netto positief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731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7460"/>
                </a:solidFill>
                <a:latin typeface="Roboto Flex"/>
              </a:defRPr>
            </a:pPr>
            <a:r>
              <a:t>IMPLEMENTATIE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0515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7460"/>
                </a:solidFill>
                <a:latin typeface="Roboto Flex"/>
              </a:defRPr>
            </a:pPr>
            <a:r>
              <a:t>Tijdlijn naar productie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2286000"/>
            <a:ext cx="237744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24688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7460"/>
                </a:solidFill>
                <a:latin typeface="Roboto Flex"/>
              </a:defRPr>
            </a:pPr>
            <a:r>
              <a:t>Week 1–2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7889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11827"/>
                </a:solidFill>
                <a:latin typeface="Roboto Flex"/>
              </a:defRPr>
            </a:pPr>
            <a:r>
              <a:t>Akkoord &amp; Setup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20040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6B7280"/>
                </a:solidFill>
                <a:latin typeface="Roboto Flex"/>
              </a:defRPr>
            </a:pPr>
            <a:r>
              <a:t>Contract, toegang tot systemen,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6B7280"/>
                </a:solidFill>
                <a:latin typeface="Roboto Flex"/>
              </a:defRPr>
            </a:pPr>
            <a:r>
              <a:t>data-inventarisatie, branding afstemming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29000" y="329184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007460"/>
                </a:solidFill>
                <a:latin typeface="Roboto Flex"/>
              </a:defRPr>
            </a:pPr>
            <a: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749039" y="2286000"/>
            <a:ext cx="237744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023359" y="24688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7460"/>
                </a:solidFill>
                <a:latin typeface="Roboto Flex"/>
              </a:defRPr>
            </a:pPr>
            <a:r>
              <a:t>Week 3–4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27889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11827"/>
                </a:solidFill>
                <a:latin typeface="Roboto Flex"/>
              </a:defRPr>
            </a:pPr>
            <a:r>
              <a:t>Data-migratie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23359" y="320040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6B7280"/>
                </a:solidFill>
                <a:latin typeface="Roboto Flex"/>
              </a:defRPr>
            </a:pPr>
            <a:r>
              <a:t>Auteursdata importeren, PDF-afrekeningen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6B7280"/>
                </a:solidFill>
                <a:latin typeface="Roboto Flex"/>
              </a:defRPr>
            </a:pPr>
            <a:r>
              <a:t>uploaden, accounts aanmaken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80759" y="329184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007460"/>
                </a:solidFill>
                <a:latin typeface="Roboto Flex"/>
              </a:defRPr>
            </a:pPr>
            <a: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2286000"/>
            <a:ext cx="237744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24688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7460"/>
                </a:solidFill>
                <a:latin typeface="Roboto Flex"/>
              </a:defRPr>
            </a:pPr>
            <a:r>
              <a:t>Week 5–6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27889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11827"/>
                </a:solidFill>
                <a:latin typeface="Roboto Flex"/>
              </a:defRPr>
            </a:pPr>
            <a:r>
              <a:t>Testen &amp; Feedback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320040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6B7280"/>
                </a:solidFill>
                <a:latin typeface="Roboto Flex"/>
              </a:defRPr>
            </a:pPr>
            <a:r>
              <a:t>Pilot met 10 auteurs, feedback verwerken,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6B7280"/>
                </a:solidFill>
                <a:latin typeface="Roboto Flex"/>
              </a:defRPr>
            </a:pPr>
            <a:r>
              <a:t>laatste aanpassingen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32520" y="329184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007460"/>
                </a:solidFill>
                <a:latin typeface="Roboto Flex"/>
              </a:defRPr>
            </a:pPr>
            <a: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52559" y="2286000"/>
            <a:ext cx="2377440" cy="2743200"/>
          </a:xfrm>
          <a:prstGeom prst="roundRect">
            <a:avLst>
              <a:gd name="adj" fmla="val 4000"/>
            </a:avLst>
          </a:prstGeom>
          <a:solidFill>
            <a:srgbClr val="F0FAF7"/>
          </a:solidFill>
          <a:ln w="19050">
            <a:solidFill>
              <a:srgbClr val="0074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79" y="24688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7460"/>
                </a:solidFill>
                <a:latin typeface="Roboto Flex"/>
              </a:defRPr>
            </a:pPr>
            <a:r>
              <a:t>Week 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79" y="27889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11827"/>
                </a:solidFill>
                <a:latin typeface="Roboto Flex"/>
              </a:defRPr>
            </a:pPr>
            <a:r>
              <a:t>Go-live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79" y="320040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6B7280"/>
                </a:solidFill>
                <a:latin typeface="Roboto Flex"/>
              </a:defRPr>
            </a:pPr>
            <a:r>
              <a:t>Alle auteurs ontvangen een email met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6B7280"/>
                </a:solidFill>
                <a:latin typeface="Roboto Flex"/>
              </a:defRPr>
            </a:pPr>
            <a:r>
              <a:t>login-instructies. Het portaal is live.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54864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400" b="0">
                <a:solidFill>
                  <a:srgbClr val="111827"/>
                </a:solidFill>
                <a:latin typeface="Roboto Flex"/>
              </a:defRPr>
            </a:pPr>
            <a:r>
              <a:t>Het portaal is al gebouwd en getest. De enige stap naar productie is het importeren van echte data.</a:t>
            </a:r>
          </a:p>
          <a:p>
            <a:pPr algn="l">
              <a:spcAft>
                <a:spcPts val="500"/>
              </a:spcAft>
              <a:defRPr sz="1400" b="0">
                <a:solidFill>
                  <a:srgbClr val="111827"/>
                </a:solidFill>
                <a:latin typeface="Roboto Flex"/>
              </a:defRPr>
            </a:pPr>
            <a:r>
              <a:t>Bij akkoord kan het portaal binnen 7 weken live zijn voor alle 2.500 auteurs van Noordhoff.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731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7460"/>
                </a:solidFill>
                <a:latin typeface="Roboto Flex"/>
              </a:defRPr>
            </a:pPr>
            <a:r>
              <a:t>ONTWIKKELING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0515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7460"/>
                </a:solidFill>
                <a:latin typeface="Roboto Flex"/>
              </a:defRPr>
            </a:pPr>
            <a:r>
              <a:t>Urenverantwoording — 200 uur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103120"/>
            <a:ext cx="3931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11827"/>
                </a:solidFill>
                <a:latin typeface="Roboto Flex"/>
              </a:defRPr>
            </a:pPr>
            <a:r>
              <a:t>UX research &amp; wireframes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210312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007460"/>
                </a:solidFill>
                <a:latin typeface="Roboto Flex"/>
              </a:defRPr>
            </a:pPr>
            <a:r>
              <a:t>16 uur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7280" y="2450592"/>
            <a:ext cx="2769325" cy="31750"/>
          </a:xfrm>
          <a:prstGeom prst="rect">
            <a:avLst/>
          </a:prstGeom>
          <a:solidFill>
            <a:srgbClr val="F0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2103120"/>
            <a:ext cx="3931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11827"/>
                </a:solidFill>
                <a:latin typeface="Roboto Flex"/>
              </a:defRPr>
            </a:pPr>
            <a:r>
              <a:t>Huisstijl &amp; design system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210312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007460"/>
                </a:solidFill>
                <a:latin typeface="Roboto Flex"/>
              </a:defRPr>
            </a:pPr>
            <a:r>
              <a:t>12 uur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2450592"/>
            <a:ext cx="2076994" cy="31750"/>
          </a:xfrm>
          <a:prstGeom prst="rect">
            <a:avLst/>
          </a:prstGeom>
          <a:solidFill>
            <a:srgbClr val="F0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633472"/>
            <a:ext cx="3931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11827"/>
                </a:solidFill>
                <a:latin typeface="Roboto Flex"/>
              </a:defRPr>
            </a:pPr>
            <a:r>
              <a:t>Login &amp; authenticatie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2633472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007460"/>
                </a:solidFill>
                <a:latin typeface="Roboto Flex"/>
              </a:defRPr>
            </a:pPr>
            <a:r>
              <a:t>10 uur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97280" y="2980944"/>
            <a:ext cx="1730828" cy="31750"/>
          </a:xfrm>
          <a:prstGeom prst="rect">
            <a:avLst/>
          </a:prstGeom>
          <a:solidFill>
            <a:srgbClr val="F0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2633472"/>
            <a:ext cx="3931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11827"/>
                </a:solidFill>
                <a:latin typeface="Roboto Flex"/>
              </a:defRPr>
            </a:pPr>
            <a:r>
              <a:t>Dashboard framework &amp; routing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2633472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007460"/>
                </a:solidFill>
                <a:latin typeface="Roboto Flex"/>
              </a:defRPr>
            </a:pPr>
            <a:r>
              <a:t>14 uur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2980944"/>
            <a:ext cx="2423160" cy="31750"/>
          </a:xfrm>
          <a:prstGeom prst="rect">
            <a:avLst/>
          </a:prstGeom>
          <a:solidFill>
            <a:srgbClr val="F0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3163824"/>
            <a:ext cx="3931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11827"/>
                </a:solidFill>
                <a:latin typeface="Roboto Flex"/>
              </a:defRPr>
            </a:pPr>
            <a:r>
              <a:t>7 auteur-tabbladen bouwen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3163824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007460"/>
                </a:solidFill>
                <a:latin typeface="Roboto Flex"/>
              </a:defRPr>
            </a:pPr>
            <a:r>
              <a:t>28 uur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97280" y="3511296"/>
            <a:ext cx="4846320" cy="31750"/>
          </a:xfrm>
          <a:prstGeom prst="rect">
            <a:avLst/>
          </a:prstGeom>
          <a:solidFill>
            <a:srgbClr val="F0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3163824"/>
            <a:ext cx="3931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11827"/>
                </a:solidFill>
                <a:latin typeface="Roboto Flex"/>
              </a:defRPr>
            </a:pPr>
            <a:r>
              <a:t>PDF preview &amp; generatie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3163824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007460"/>
                </a:solidFill>
                <a:latin typeface="Roboto Flex"/>
              </a:defRPr>
            </a:pPr>
            <a:r>
              <a:t>10 uur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0" y="3511296"/>
            <a:ext cx="1730828" cy="31750"/>
          </a:xfrm>
          <a:prstGeom prst="rect">
            <a:avLst/>
          </a:prstGeom>
          <a:solidFill>
            <a:srgbClr val="F0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7280" y="3694175"/>
            <a:ext cx="3931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11827"/>
                </a:solidFill>
                <a:latin typeface="Roboto Flex"/>
              </a:defRPr>
            </a:pPr>
            <a:r>
              <a:t>Admin dashboard &amp; CRUD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0" y="3694175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007460"/>
                </a:solidFill>
                <a:latin typeface="Roboto Flex"/>
              </a:defRPr>
            </a:pPr>
            <a:r>
              <a:t>22 uur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97280" y="4041647"/>
            <a:ext cx="3807822" cy="31750"/>
          </a:xfrm>
          <a:prstGeom prst="rect">
            <a:avLst/>
          </a:prstGeom>
          <a:solidFill>
            <a:srgbClr val="F0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3694175"/>
            <a:ext cx="3931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11827"/>
                </a:solidFill>
                <a:latin typeface="Roboto Flex"/>
              </a:defRPr>
            </a:pPr>
            <a:r>
              <a:t>Supabase backend &amp; RLS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32720" y="3694175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007460"/>
                </a:solidFill>
                <a:latin typeface="Roboto Flex"/>
              </a:defRPr>
            </a:pPr>
            <a:r>
              <a:t>18 uur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0" y="4041647"/>
            <a:ext cx="3115491" cy="31750"/>
          </a:xfrm>
          <a:prstGeom prst="rect">
            <a:avLst/>
          </a:prstGeom>
          <a:solidFill>
            <a:srgbClr val="F0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97280" y="4224527"/>
            <a:ext cx="3931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11827"/>
                </a:solidFill>
                <a:latin typeface="Roboto Flex"/>
              </a:defRPr>
            </a:pPr>
            <a:r>
              <a:t>Bulk import tools (CSV + PDF)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0" y="4224527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007460"/>
                </a:solidFill>
                <a:latin typeface="Roboto Flex"/>
              </a:defRPr>
            </a:pPr>
            <a:r>
              <a:t>12 uur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97280" y="4571999"/>
            <a:ext cx="2076994" cy="31750"/>
          </a:xfrm>
          <a:prstGeom prst="rect">
            <a:avLst/>
          </a:prstGeom>
          <a:solidFill>
            <a:srgbClr val="F0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0" y="4224527"/>
            <a:ext cx="3931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11827"/>
                </a:solidFill>
                <a:latin typeface="Roboto Flex"/>
              </a:defRPr>
            </a:pPr>
            <a:r>
              <a:t>Responsive design (mobile/tablet)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32720" y="4224527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007460"/>
                </a:solidFill>
                <a:latin typeface="Roboto Flex"/>
              </a:defRPr>
            </a:pPr>
            <a:r>
              <a:t>14 uur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0" y="4571999"/>
            <a:ext cx="2423160" cy="31750"/>
          </a:xfrm>
          <a:prstGeom prst="rect">
            <a:avLst/>
          </a:prstGeom>
          <a:solidFill>
            <a:srgbClr val="F0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97280" y="4754879"/>
            <a:ext cx="3931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11827"/>
                </a:solidFill>
                <a:latin typeface="Roboto Flex"/>
              </a:defRPr>
            </a:pPr>
            <a:r>
              <a:t>i18n, dark mode, guided tour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0" y="4754879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007460"/>
                </a:solidFill>
                <a:latin typeface="Roboto Flex"/>
              </a:defRPr>
            </a:pPr>
            <a:r>
              <a:t>12 uur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97280" y="5102351"/>
            <a:ext cx="2076994" cy="31750"/>
          </a:xfrm>
          <a:prstGeom prst="rect">
            <a:avLst/>
          </a:prstGeom>
          <a:solidFill>
            <a:srgbClr val="F0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0" y="4754879"/>
            <a:ext cx="3931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11827"/>
                </a:solidFill>
                <a:latin typeface="Roboto Flex"/>
              </a:defRPr>
            </a:pPr>
            <a:r>
              <a:t>Publieke website (5 pagina's)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332720" y="4754879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007460"/>
                </a:solidFill>
                <a:latin typeface="Roboto Flex"/>
              </a:defRPr>
            </a:pPr>
            <a:r>
              <a:t>16 uur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0" y="5102351"/>
            <a:ext cx="2769325" cy="31750"/>
          </a:xfrm>
          <a:prstGeom prst="rect">
            <a:avLst/>
          </a:prstGeom>
          <a:solidFill>
            <a:srgbClr val="F0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97280" y="5285231"/>
            <a:ext cx="3931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11827"/>
                </a:solidFill>
                <a:latin typeface="Roboto Flex"/>
              </a:defRPr>
            </a:pPr>
            <a:r>
              <a:t>Testing, QA &amp; optimalisatie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0" y="5285231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007460"/>
                </a:solidFill>
                <a:latin typeface="Roboto Flex"/>
              </a:defRPr>
            </a:pPr>
            <a:r>
              <a:t>16 uur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97280" y="5632703"/>
            <a:ext cx="2769325" cy="31750"/>
          </a:xfrm>
          <a:prstGeom prst="rect">
            <a:avLst/>
          </a:prstGeom>
          <a:solidFill>
            <a:srgbClr val="F0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97280" y="5943600"/>
            <a:ext cx="10058400" cy="12700"/>
          </a:xfrm>
          <a:prstGeom prst="rect">
            <a:avLst/>
          </a:prstGeom>
          <a:solidFill>
            <a:srgbClr val="007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97280" y="60350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7460"/>
                </a:solidFill>
                <a:latin typeface="Roboto Flex"/>
              </a:defRPr>
            </a:pPr>
            <a:r>
              <a:t>TOTAAL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326880" y="60350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007460"/>
                </a:solidFill>
                <a:latin typeface="Roboto Flex"/>
              </a:defRPr>
            </a:pPr>
            <a:r>
              <a:t>200 uur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07460"/>
              </a:gs>
              <a:gs pos="100000">
                <a:srgbClr val="00322A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645920"/>
            <a:ext cx="121916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Roboto Flex"/>
              </a:defRPr>
            </a:pPr>
            <a:r>
              <a:t>Klaar om te starten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2743200"/>
            <a:ext cx="7589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700" b="0">
                <a:solidFill>
                  <a:srgbClr val="BEE1DA"/>
                </a:solidFill>
                <a:latin typeface="Roboto Flex"/>
              </a:defRPr>
            </a:pPr>
            <a:r>
              <a:t>Het portaal is gebouwd, getest en klaar voor productie.</a:t>
            </a:r>
          </a:p>
          <a:p>
            <a:pPr algn="ctr">
              <a:spcAft>
                <a:spcPts val="600"/>
              </a:spcAft>
              <a:defRPr sz="1700" b="0">
                <a:solidFill>
                  <a:srgbClr val="BEE1DA"/>
                </a:solidFill>
                <a:latin typeface="Roboto Flex"/>
              </a:defRPr>
            </a:pPr>
            <a:r>
              <a:t>De volgende stap is een akkoord en data-migratie.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20624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Roboto Flex"/>
              </a:defRPr>
            </a:pPr>
            <a:r>
              <a:t>200 uur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846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6C8BE"/>
                </a:solidFill>
                <a:latin typeface="Roboto Flex"/>
              </a:defRPr>
            </a:pPr>
            <a:r>
              <a:t>Ontwikkeld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420624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Roboto Flex"/>
              </a:defRPr>
            </a:pPr>
            <a:r>
              <a:t>5.000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4846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6C8BE"/>
                </a:solidFill>
                <a:latin typeface="Roboto Flex"/>
              </a:defRPr>
            </a:pPr>
            <a:r>
              <a:t>Auteurs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0" y="420624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Roboto Flex"/>
              </a:defRPr>
            </a:pPr>
            <a: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0" y="4846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6C8BE"/>
                </a:solidFill>
                <a:latin typeface="Roboto Flex"/>
              </a:defRPr>
            </a:pPr>
            <a:r>
              <a:t>Organisaties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79" y="420624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Roboto Flex"/>
              </a:defRPr>
            </a:pPr>
            <a:r>
              <a:t>7 weken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4846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6C8BE"/>
                </a:solidFill>
                <a:latin typeface="Roboto Flex"/>
              </a:defRPr>
            </a:pPr>
            <a:r>
              <a:t>Naar go-live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0" y="420624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Roboto Flex"/>
              </a:defRPr>
            </a:pPr>
            <a:r>
              <a:t>&lt; 2 jaar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0" y="4846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6C8BE"/>
                </a:solidFill>
                <a:latin typeface="Roboto Flex"/>
              </a:defRPr>
            </a:pPr>
            <a:r>
              <a:t>Terugverdientijd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0" y="5943600"/>
            <a:ext cx="121916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8AA9B"/>
                </a:solidFill>
                <a:latin typeface="Roboto Flex"/>
              </a:defRPr>
            </a:pPr>
            <a:r>
              <a:t>Patrick Jeeninga  ·  patrick@noordhoff.nl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