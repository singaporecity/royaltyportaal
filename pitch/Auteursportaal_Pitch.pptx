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460"/>
              </a:gs>
              <a:gs pos="100000">
                <a:srgbClr val="0032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Roboto Flex"/>
              </a:defRPr>
            </a:pPr>
            <a:r>
              <a:t>AUTEURSPORTAAL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BEE1DA"/>
                </a:solidFill>
                <a:latin typeface="Roboto Flex"/>
              </a:defRPr>
            </a:pPr>
            <a:r>
              <a:t>Het digitale platform voor royalty-afrekeningen,</a:t>
            </a:r>
          </a:p>
          <a:p>
            <a:pPr algn="ctr">
              <a:spcAft>
                <a:spcPts val="600"/>
              </a:spcAft>
              <a:defRPr sz="1800" b="0">
                <a:solidFill>
                  <a:srgbClr val="BEE1DA"/>
                </a:solidFill>
                <a:latin typeface="Roboto Flex"/>
              </a:defRPr>
            </a:pPr>
            <a:r>
              <a:t>contracten en prognoses van auteurs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023360"/>
            <a:ext cx="2103120" cy="12700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B4A5"/>
                </a:solidFill>
                <a:latin typeface="Roboto Flex"/>
              </a:defRPr>
            </a:pPr>
            <a:r>
              <a:t>Noordhoff  ·  Liber  ·  Plantyn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A091"/>
                </a:solidFill>
                <a:latin typeface="Roboto Flex"/>
              </a:defRPr>
            </a:pPr>
            <a:r>
              <a:t>Patrick Jeeninga  —  Maart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Waarom nu?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8600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460"/>
                </a:solidFill>
                <a:latin typeface="Roboto Flex"/>
              </a:defRPr>
            </a:pPr>
            <a:r>
              <a:t>Aandeelhouders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8346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De aandeelhouders van Noordhoff pushen actief op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meer digitalisatie. Het Auteursportaal is een concrete,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zichtbare stap die direct waarde levert.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8600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460"/>
                </a:solidFill>
                <a:latin typeface="Roboto Flex"/>
              </a:defRPr>
            </a:pPr>
            <a:r>
              <a:t>Value Creation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Dit portaal past direct binnen het Value Creation Plan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als digitaal verbeterproject. Schaalbaar naar Liber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en Plantyn zonder proportionele meerkosten.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48056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26000"/>
                </a:solidFill>
                <a:latin typeface="Roboto Flex"/>
              </a:defRPr>
            </a:pPr>
            <a:r>
              <a:t>Auteurstevredenheid onder druk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0292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250 auteurs nemen jaarlijks contact op met vragen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over hun afrekening. Onzekerheid door gebrek aan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communicatie en transparantie.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8056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34A"/>
                </a:solidFill>
                <a:latin typeface="Roboto Flex"/>
              </a:defRPr>
            </a:pPr>
            <a:r>
              <a:t>Concurrentiepositie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0292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Auteurs vergelijken hun ervaring bij Noordhoff met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andere uitgevers. Een modern portaal is een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concurrentievoordeel bij het aantrekken van talent.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HET PROBLEEM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Hoe ervaart de auteur het nu?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86000"/>
            <a:ext cx="10058400" cy="14630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7460"/>
                </a:solidFill>
                <a:latin typeface="Roboto Flex"/>
              </a:defRPr>
            </a:pPr>
            <a: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5603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11827"/>
                </a:solidFill>
                <a:latin typeface="Roboto Flex"/>
              </a:defRPr>
            </a:pPr>
            <a:r>
              <a:t>Ik heb in maart een brief ontvangen, maar ik begrijp de berekening niet.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11827"/>
                </a:solidFill>
                <a:latin typeface="Roboto Flex"/>
              </a:defRPr>
            </a:pPr>
            <a:r>
              <a:t>Kan iemand mij bellen? Ik wil ook graag weten of mijn contract nog loopt.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Roboto Flex"/>
              </a:defRPr>
            </a:pPr>
            <a:r>
              <a:t>— Typische auteursvraag (1 van 250 per jaar)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0624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40" y="4434840"/>
            <a:ext cx="91440" cy="9144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Roboto Flex"/>
              </a:defRPr>
            </a:pPr>
            <a:r>
              <a:t>1 brief per jaar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846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De enige communicatie over royalties is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een jaarlijkse brief in maart. De rest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van het jaar: stilte.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20624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4434840"/>
            <a:ext cx="91440" cy="9144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Roboto Flex"/>
              </a:defRPr>
            </a:pPr>
            <a:r>
              <a:t>Geen inzicht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846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Auteurs kunnen niet zelf opzoeken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hoe hun methode presteert. Ze zijn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volledig afhankelijk van Noordhoff.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20624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0" y="4434840"/>
            <a:ext cx="91440" cy="9144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Roboto Flex"/>
              </a:defRPr>
            </a:pPr>
            <a:r>
              <a:t>Onzekerheid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46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250 auteurs bellen of mailen jaarlijks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met vragen. Dat is 10% van alle auteurs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die actief onzeker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HET PROBLEEM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Wat kost het Noordhoff nu?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19456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460"/>
                </a:solidFill>
                <a:latin typeface="Roboto Flex"/>
              </a:defRPr>
            </a:pPr>
            <a:r>
              <a:t>€10.000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Roboto Flex"/>
              </a:defRPr>
            </a:pPr>
            <a:r>
              <a:t>Postkosten per jaar</a:t>
            </a:r>
          </a:p>
          <a:p>
            <a:pPr algn="ctr">
              <a:defRPr sz="1000" b="0">
                <a:solidFill>
                  <a:srgbClr val="6B7280"/>
                </a:solidFill>
                <a:latin typeface="Roboto Flex"/>
              </a:defRPr>
            </a:pPr>
            <a:r>
              <a:t>(3 organisaties)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19456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423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460"/>
                </a:solidFill>
                <a:latin typeface="Roboto Flex"/>
              </a:defRPr>
            </a:pPr>
            <a:r>
              <a:t>32 uur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Roboto Flex"/>
              </a:defRPr>
            </a:pPr>
            <a:r>
              <a:t>Brieven inpakken</a:t>
            </a:r>
          </a:p>
          <a:p>
            <a:pPr algn="ctr">
              <a:defRPr sz="1000" b="0">
                <a:solidFill>
                  <a:srgbClr val="6B7280"/>
                </a:solidFill>
                <a:latin typeface="Roboto Flex"/>
              </a:defRPr>
            </a:pPr>
            <a:r>
              <a:t>(2 man × 2 dagen)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460"/>
                </a:solidFill>
                <a:latin typeface="Roboto Flex"/>
              </a:defRPr>
            </a:pPr>
            <a:r>
              <a:t>250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Roboto Flex"/>
              </a:defRPr>
            </a:pPr>
            <a:r>
              <a:t>Auteurs met vragen</a:t>
            </a:r>
          </a:p>
          <a:p>
            <a:pPr algn="ctr">
              <a:defRPr sz="1000" b="0">
                <a:solidFill>
                  <a:srgbClr val="6B7280"/>
                </a:solidFill>
                <a:latin typeface="Roboto Flex"/>
              </a:defRPr>
            </a:pPr>
            <a:r>
              <a:t>per jaar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19456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423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460"/>
                </a:solidFill>
                <a:latin typeface="Roboto Flex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Roboto Flex"/>
              </a:defRPr>
            </a:pPr>
            <a:r>
              <a:t>Digitaal inzicht</a:t>
            </a:r>
          </a:p>
          <a:p>
            <a:pPr algn="ctr">
              <a:defRPr sz="1000" b="0">
                <a:solidFill>
                  <a:srgbClr val="6B7280"/>
                </a:solidFill>
                <a:latin typeface="Roboto Flex"/>
              </a:defRPr>
            </a:pPr>
            <a:r>
              <a:t>voor auteurs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Roboto Flex"/>
              </a:defRPr>
            </a:pPr>
            <a:r>
              <a:t>Verborgen kosten die niet op de factuur staan:</a:t>
            </a:r>
          </a:p>
        </p:txBody>
      </p:sp>
      <p:sp>
        <p:nvSpPr>
          <p:cNvPr id="17" name="Oval 16"/>
          <p:cNvSpPr/>
          <p:nvPr/>
        </p:nvSpPr>
        <p:spPr>
          <a:xfrm>
            <a:off x="1280160" y="4590288"/>
            <a:ext cx="73152" cy="73152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480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Roboto Flex"/>
              </a:defRPr>
            </a:pPr>
            <a:r>
              <a:t>Afhandeling auteursvragen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250 vragen × gem. 30 min = 125 uur per jaar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480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8734A"/>
                </a:solidFill>
                <a:latin typeface="Roboto Flex"/>
              </a:defRPr>
            </a:pPr>
            <a:r>
              <a:t>~€5.000</a:t>
            </a:r>
          </a:p>
        </p:txBody>
      </p:sp>
      <p:sp>
        <p:nvSpPr>
          <p:cNvPr id="21" name="Oval 20"/>
          <p:cNvSpPr/>
          <p:nvPr/>
        </p:nvSpPr>
        <p:spPr>
          <a:xfrm>
            <a:off x="1280160" y="5093208"/>
            <a:ext cx="73152" cy="73152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983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Roboto Flex"/>
              </a:defRPr>
            </a:pPr>
            <a:r>
              <a:t>Fysieke verwerking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983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2 medewerkers × 2 dagen printen, vouwen, inpakken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983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8734A"/>
                </a:solidFill>
                <a:latin typeface="Roboto Flex"/>
              </a:defRPr>
            </a:pPr>
            <a:r>
              <a:t>~€2.500</a:t>
            </a:r>
          </a:p>
        </p:txBody>
      </p:sp>
      <p:sp>
        <p:nvSpPr>
          <p:cNvPr id="25" name="Oval 24"/>
          <p:cNvSpPr/>
          <p:nvPr/>
        </p:nvSpPr>
        <p:spPr>
          <a:xfrm>
            <a:off x="1280160" y="5596128"/>
            <a:ext cx="73152" cy="73152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5486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Roboto Flex"/>
              </a:defRPr>
            </a:pPr>
            <a:r>
              <a:t>Reputatierisico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486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Auteurs ervaren Noordhoff als ouderwets en niet-transparant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486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8734A"/>
                </a:solidFill>
                <a:latin typeface="Roboto Flex"/>
              </a:defRPr>
            </a:pPr>
            <a:r>
              <a:t>—</a:t>
            </a:r>
          </a:p>
        </p:txBody>
      </p:sp>
      <p:sp>
        <p:nvSpPr>
          <p:cNvPr id="29" name="Oval 28"/>
          <p:cNvSpPr/>
          <p:nvPr/>
        </p:nvSpPr>
        <p:spPr>
          <a:xfrm>
            <a:off x="1280160" y="6099048"/>
            <a:ext cx="73152" cy="73152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5989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Roboto Flex"/>
              </a:defRPr>
            </a:pPr>
            <a:r>
              <a:t>Auteursverlies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989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Frustratie leidt tot overstap naar concurrent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989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8734A"/>
                </a:solidFill>
                <a:latin typeface="Roboto Flex"/>
              </a:defRPr>
            </a:pPr>
            <a: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6492240"/>
            <a:ext cx="10058400" cy="12700"/>
          </a:xfrm>
          <a:prstGeom prst="rect">
            <a:avLst/>
          </a:prstGeom>
          <a:solidFill>
            <a:srgbClr val="00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460"/>
                </a:solidFill>
                <a:latin typeface="Roboto Flex"/>
              </a:defRPr>
            </a:pPr>
            <a:r>
              <a:t>Totale kosten huidige situatie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7460"/>
                </a:solidFill>
                <a:latin typeface="Roboto Flex"/>
              </a:defRPr>
            </a:pPr>
            <a:r>
              <a:t>~€18.000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DE TRANSFORMATIE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Van papier naar portaal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194560"/>
            <a:ext cx="4572000" cy="4114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34A"/>
                </a:solidFill>
                <a:latin typeface="Roboto Flex"/>
              </a:defRPr>
            </a:pPr>
            <a:r>
              <a:t>Nu: fysieke 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017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✗  1× per jaar een royalty-brief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015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✗  Geen tussentijds inzicht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85615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✗  Vragen via email en telefoon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16966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✗  Contracten in archiefkast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5537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✗  Geen prognose mogelijk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937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✗  Gegevenswijziging per formulier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321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✗  Brieven handmatig inpakken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70585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✗  Geen inzicht in auteuractiviteit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840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460"/>
                </a:solidFill>
                <a:latin typeface="Roboto Flex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194560"/>
            <a:ext cx="4572000" cy="4114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460"/>
                </a:solidFill>
                <a:latin typeface="Roboto Flex"/>
              </a:defRPr>
            </a:pPr>
            <a:r>
              <a:t>Straks: het Auteursportaal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017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✓  24/7 inzicht in afrekeningen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4015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✓  Realtime royalty-overzicht per jaar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85615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✓  FAQ en rondleiding in het portaal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16966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✓  Contracten direct inzien en downloaden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5537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✓  Prognose met min/max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937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✓  Wijzigingen digitaal aanvragen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321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✓  Bulk upload + automatisch versturen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70585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✓  Activiteiten feed voor admin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DE OPLOSSING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Eén portaal, twee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194560"/>
            <a:ext cx="4846320" cy="4206240"/>
          </a:xfrm>
          <a:prstGeom prst="roundRect">
            <a:avLst>
              <a:gd name="adj" fmla="val 4000"/>
            </a:avLst>
          </a:prstGeom>
          <a:solidFill>
            <a:srgbClr val="F0FAF7"/>
          </a:solidFill>
          <a:ln w="19050">
            <a:solidFill>
              <a:srgbClr val="007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460"/>
                </a:solidFill>
                <a:latin typeface="Roboto Flex"/>
              </a:defRPr>
            </a:pPr>
            <a:r>
              <a:t>Auteursdashboard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834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Roboto Flex"/>
              </a:defRPr>
            </a:pPr>
            <a:r>
              <a:t>Wat de auteur ziet: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Jaaroverzicht met royalty-totalen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6118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Afrekeningen zoeken, filteren, downloaden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776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Contracten inzien met PDF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Prognose komend jaar (min—max)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Declaraties indienen met PDF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Persoonlijke gegevens beheren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440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Interactieve royalty-grafiek per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806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FAQ, guided tour, command palette (⌘K)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94560"/>
            <a:ext cx="484632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Roboto Flex"/>
              </a:defRPr>
            </a:pPr>
            <a:r>
              <a:t>Admin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34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Roboto Flex"/>
              </a:defRPr>
            </a:pPr>
            <a:r>
              <a:t>Wat de beheerder ziet: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Overzicht van alle auteurs met zoekfunctie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118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Per auteur: gegevens, contracten, afrekeningen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776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Wijzigingsverzoeken goedkeuren/afwijzen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Bulk PDF upload voor afrekeningen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CSV import voor nieuwe auteurs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Evenementen en nieuws beheren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440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Activiteiten feed (logins, wijzigingen)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806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·  E-mail notificatie instellingen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HET PORTAAL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Auteursdashboard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50292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Inloggen</a:t>
            </a:r>
          </a:p>
        </p:txBody>
      </p:sp>
      <p:pic>
        <p:nvPicPr>
          <p:cNvPr id="6" name="Picture 5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514600"/>
            <a:ext cx="4754880" cy="2971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2103120"/>
            <a:ext cx="50292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Start — Jaaroverzicht</a:t>
            </a:r>
          </a:p>
        </p:txBody>
      </p:sp>
      <p:pic>
        <p:nvPicPr>
          <p:cNvPr id="9" name="Picture 8" descr="02_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14600"/>
            <a:ext cx="4754880" cy="2971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4400" y="521208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Royalty-grafiek per jaar</a:t>
            </a:r>
          </a:p>
        </p:txBody>
      </p:sp>
      <p:pic>
        <p:nvPicPr>
          <p:cNvPr id="12" name="Picture 11" descr="03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029200"/>
            <a:ext cx="4754880" cy="2971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521208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Afrekeningen</a:t>
            </a:r>
          </a:p>
        </p:txBody>
      </p:sp>
      <p:pic>
        <p:nvPicPr>
          <p:cNvPr id="15" name="Picture 14" descr="05_afrekening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5029200"/>
            <a:ext cx="475488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HET PORTAAL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Contracten, Prognose &amp; Admin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Contracten</a:t>
            </a:r>
          </a:p>
        </p:txBody>
      </p:sp>
      <p:pic>
        <p:nvPicPr>
          <p:cNvPr id="6" name="Picture 5" descr="06_contrac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514600"/>
            <a:ext cx="4754880" cy="2971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210312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Prognose</a:t>
            </a:r>
          </a:p>
        </p:txBody>
      </p:sp>
      <p:pic>
        <p:nvPicPr>
          <p:cNvPr id="9" name="Picture 8" descr="07_progn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14600"/>
            <a:ext cx="4754880" cy="2971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4400" y="438912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Admin Dashboard</a:t>
            </a:r>
          </a:p>
        </p:txBody>
      </p:sp>
      <p:pic>
        <p:nvPicPr>
          <p:cNvPr id="12" name="Picture 11" descr="10_ad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800600"/>
            <a:ext cx="4754880" cy="2971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438912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Admin — Beheer</a:t>
            </a:r>
          </a:p>
        </p:txBody>
      </p:sp>
      <p:pic>
        <p:nvPicPr>
          <p:cNvPr id="15" name="Picture 14" descr="11_admin_behe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800600"/>
            <a:ext cx="475488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460"/>
              </a:gs>
              <a:gs pos="100000">
                <a:srgbClr val="0032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 Flex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3832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BEE1DA"/>
                </a:solidFill>
                <a:latin typeface="Roboto Flex"/>
              </a:defRPr>
            </a:pPr>
            <a:r>
              <a:t>Laat me u tonen hoe het portaal eruitziet</a:t>
            </a:r>
          </a:p>
          <a:p>
            <a:pPr algn="ctr">
              <a:spcAft>
                <a:spcPts val="600"/>
              </a:spcAft>
              <a:defRPr sz="1800" b="0">
                <a:solidFill>
                  <a:srgbClr val="BEE1DA"/>
                </a:solidFill>
                <a:latin typeface="Roboto Flex"/>
              </a:defRPr>
            </a:pPr>
            <a:r>
              <a:t>voor auteur Patrick Jeeninga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DCD2"/>
                </a:solidFill>
                <a:latin typeface="Roboto Flex"/>
              </a:defRPr>
            </a:pPr>
            <a:r>
              <a:t>1.  Inloggen als auteur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DCD2"/>
                </a:solidFill>
                <a:latin typeface="Roboto Flex"/>
              </a:defRPr>
            </a:pPr>
            <a:r>
              <a:t>2.  Jaaroverzicht &amp; royalty-grafiek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DCD2"/>
                </a:solidFill>
                <a:latin typeface="Roboto Flex"/>
              </a:defRPr>
            </a:pPr>
            <a:r>
              <a:t>3.  Afrekening openen (echte PDF)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DCD2"/>
                </a:solidFill>
                <a:latin typeface="Roboto Flex"/>
              </a:defRPr>
            </a:pPr>
            <a:r>
              <a:t>4.  Contract bekijken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DCD2"/>
                </a:solidFill>
                <a:latin typeface="Roboto Flex"/>
              </a:defRPr>
            </a:pPr>
            <a:r>
              <a:t>5.  Prognose &amp; declaraties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SCHAALBAARHEID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Eén platform, drie organisaties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8600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F0FAF7"/>
          </a:solidFill>
          <a:ln w="19050">
            <a:solidFill>
              <a:srgbClr val="007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460"/>
                </a:solidFill>
                <a:latin typeface="Roboto Flex"/>
              </a:defRPr>
            </a:pPr>
            <a:r>
              <a:t>Noordhoff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Roboto Flex"/>
              </a:defRPr>
            </a:pPr>
            <a:r>
              <a:t>2.500 auteurs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291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Primair, voortgezet onderwijs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en mbo/hbo in Nederland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460"/>
                </a:solidFill>
                <a:latin typeface="Roboto Flex"/>
              </a:defRPr>
            </a:pPr>
            <a:r>
              <a:t>Liber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Roboto Flex"/>
              </a:defRPr>
            </a:pPr>
            <a:r>
              <a:t>~1.500 auteurs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291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Educatieve uitgeverij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in Zweden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28600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460"/>
                </a:solidFill>
                <a:latin typeface="Roboto Flex"/>
              </a:defRPr>
            </a:pPr>
            <a:r>
              <a:t>Plantyn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Roboto Flex"/>
              </a:defRPr>
            </a:pPr>
            <a:r>
              <a:t>~1.000 auteurs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3291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Educatieve uitgeverij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in België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460"/>
                </a:solidFill>
                <a:latin typeface="Roboto Flex"/>
              </a:defRPr>
            </a:pPr>
            <a:r>
              <a:t>White-label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40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Elke organisatie krijgt een eigen huisstijl (logo, kleuren), eigen auteurs-database en eigen admin.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De onderliggende technologie is identiek — updates worden één keer gebouwd en rollen uit naar alle drie.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Geen extra ontwikkelkosten per organisatie, alleen configuratie en data-migratie.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BUSINESSCASE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Return on Investment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1031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460"/>
                </a:solidFill>
                <a:latin typeface="Roboto Flex"/>
              </a:defRPr>
            </a:pPr>
            <a:r>
              <a:t>€10.000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Roboto Flex"/>
              </a:defRPr>
            </a:pPr>
            <a:r>
              <a:t>Postkosten bespaard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1031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331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460"/>
                </a:solidFill>
                <a:latin typeface="Roboto Flex"/>
              </a:defRPr>
            </a:pPr>
            <a:r>
              <a:t>€5.000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Roboto Flex"/>
              </a:defRPr>
            </a:pPr>
            <a:r>
              <a:t>Minder auteursvragen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331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460"/>
                </a:solidFill>
                <a:latin typeface="Roboto Flex"/>
              </a:defRPr>
            </a:pPr>
            <a:r>
              <a:t>€2.500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Roboto Flex"/>
              </a:defRPr>
            </a:pPr>
            <a:r>
              <a:t>Verwerking bespaard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1031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00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331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Roboto Flex"/>
              </a:defRPr>
            </a:pPr>
            <a:r>
              <a:t>€17.500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DCD2"/>
                </a:solidFill>
                <a:latin typeface="Roboto Flex"/>
              </a:defRPr>
            </a:pPr>
            <a:r>
              <a:t>Totale besparing/jaar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97280" y="393192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514600"/>
                <a:gridCol w="2514600"/>
              </a:tblGrid>
              <a:tr h="426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Roboto Flex"/>
                        </a:defRPr>
                      </a:pPr>
                    </a:p>
                  </a:txBody>
                  <a:tcPr>
                    <a:solidFill>
                      <a:srgbClr val="007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Roboto Flex"/>
                        </a:defRPr>
                      </a:pPr>
                      <a:r>
                        <a:t>Huidig (per jaar)</a:t>
                      </a:r>
                    </a:p>
                  </a:txBody>
                  <a:tcPr>
                    <a:solidFill>
                      <a:srgbClr val="007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Roboto Flex"/>
                        </a:defRPr>
                      </a:pPr>
                      <a:r>
                        <a:t>Met portaal</a:t>
                      </a:r>
                    </a:p>
                  </a:txBody>
                  <a:tcPr>
                    <a:solidFill>
                      <a:srgbClr val="00746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Roboto Flex"/>
                        </a:defRPr>
                      </a:pPr>
                      <a:r>
                        <a:t>Fysieke post (print + porto + verzending)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734A"/>
                          </a:solidFill>
                          <a:latin typeface="Roboto Flex"/>
                        </a:defRPr>
                      </a:pPr>
                      <a:r>
                        <a:t>€10.000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7460"/>
                          </a:solidFill>
                          <a:latin typeface="Roboto Flex"/>
                        </a:defRPr>
                      </a:pPr>
                      <a:r>
                        <a:t>€0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Roboto Flex"/>
                        </a:defRPr>
                      </a:pPr>
                      <a:r>
                        <a:t>Afhandeling auteursvragen (125 uur)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734A"/>
                          </a:solidFill>
                          <a:latin typeface="Roboto Flex"/>
                        </a:defRPr>
                      </a:pPr>
                      <a:r>
                        <a:t>€5.000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7460"/>
                          </a:solidFill>
                          <a:latin typeface="Roboto Flex"/>
                        </a:defRPr>
                      </a:pPr>
                      <a:r>
                        <a:t>€500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Roboto Flex"/>
                        </a:defRPr>
                      </a:pPr>
                      <a:r>
                        <a:t>Fysieke verwerking (32 uur)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734A"/>
                          </a:solidFill>
                          <a:latin typeface="Roboto Flex"/>
                        </a:defRPr>
                      </a:pPr>
                      <a:r>
                        <a:t>€2.500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7460"/>
                          </a:solidFill>
                          <a:latin typeface="Roboto Flex"/>
                        </a:defRPr>
                      </a:pPr>
                      <a:r>
                        <a:t>€0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Roboto Flex"/>
                        </a:defRPr>
                      </a:pPr>
                      <a:r>
                        <a:t>Auteursbehoud &amp; tevredenheid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734A"/>
                          </a:solidFill>
                          <a:latin typeface="Roboto Flex"/>
                        </a:defRPr>
                      </a:pPr>
                      <a:r>
                        <a:t>Risico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7460"/>
                          </a:solidFill>
                          <a:latin typeface="Roboto Flex"/>
                        </a:defRPr>
                      </a:pPr>
                      <a:r>
                        <a:t>Geborgd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7460"/>
                          </a:solidFill>
                          <a:latin typeface="Roboto Flex"/>
                        </a:defRPr>
                      </a:pPr>
                      <a:r>
                        <a:t>Totale kosten</a:t>
                      </a:r>
                    </a:p>
                  </a:txBody>
                  <a:tcPr>
                    <a:solidFill>
                      <a:srgbClr val="F0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7460"/>
                          </a:solidFill>
                          <a:latin typeface="Roboto Flex"/>
                        </a:defRPr>
                      </a:pPr>
                      <a:r>
                        <a:t>€17.500+</a:t>
                      </a:r>
                    </a:p>
                  </a:txBody>
                  <a:tcPr>
                    <a:solidFill>
                      <a:srgbClr val="F0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7460"/>
                          </a:solidFill>
                          <a:latin typeface="Roboto Flex"/>
                        </a:defRPr>
                      </a:pPr>
                      <a:r>
                        <a:t>€500</a:t>
                      </a:r>
                    </a:p>
                  </a:txBody>
                  <a:tcPr>
                    <a:solidFill>
                      <a:srgbClr val="F0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INVESTERING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Wat kost het?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103120"/>
            <a:ext cx="47548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86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Roboto Flex"/>
              </a:defRPr>
            </a:pPr>
            <a:r>
              <a:t>Ontwikkeling &amp; implementatie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743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460"/>
                </a:solidFill>
                <a:latin typeface="Roboto Flex"/>
              </a:defRPr>
            </a:pPr>
            <a:r>
              <a:t>€19.000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eenmalig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832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Roboto Flex"/>
              </a:defRPr>
            </a:pPr>
            <a:r>
              <a:t>200 uur × €95/uur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7947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Roboto Flex"/>
              </a:defRPr>
            </a:pPr>
            <a:r>
              <a:t>✓  Volledig werkend portaal (auteur + admin)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114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Roboto Flex"/>
              </a:defRPr>
            </a:pPr>
            <a:r>
              <a:t>✓  Database met Row Level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34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Roboto Flex"/>
              </a:defRPr>
            </a:pPr>
            <a:r>
              <a:t>✓  Bulk import tooling (CSV + PDF)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7548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Roboto Flex"/>
              </a:defRPr>
            </a:pPr>
            <a:r>
              <a:t>✓  Tweetalig (NL/EN)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0749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Roboto Flex"/>
              </a:defRPr>
            </a:pPr>
            <a:r>
              <a:t>✓  Responsive (desktop, tablet, mobiel)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394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Roboto Flex"/>
              </a:defRPr>
            </a:pPr>
            <a:r>
              <a:t>✓  Documentatie &amp; overdracht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03120"/>
            <a:ext cx="4754880" cy="3840480"/>
          </a:xfrm>
          <a:prstGeom prst="roundRect">
            <a:avLst>
              <a:gd name="adj" fmla="val 4000"/>
            </a:avLst>
          </a:prstGeom>
          <a:solidFill>
            <a:srgbClr val="F0FAF7"/>
          </a:solidFill>
          <a:ln w="19050">
            <a:solidFill>
              <a:srgbClr val="007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0" y="1874519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0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AANBEVOLEN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Roboto Flex"/>
              </a:defRPr>
            </a:pPr>
            <a:r>
              <a:t>Jaarlijkse licentie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43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460"/>
                </a:solidFill>
                <a:latin typeface="Roboto Flex"/>
              </a:defRPr>
            </a:pPr>
            <a:r>
              <a:t>€5.000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Roboto Flex"/>
              </a:defRPr>
            </a:pPr>
            <a:r>
              <a:t>/jaar/organisatie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832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Roboto Flex"/>
              </a:defRPr>
            </a:pPr>
            <a:r>
              <a:t>3 organisaties = €15.000/jaar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7947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Roboto Flex"/>
              </a:defRPr>
            </a:pPr>
            <a:r>
              <a:t>✓  Hosting &amp; infrastructuur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114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Roboto Flex"/>
              </a:defRPr>
            </a:pPr>
            <a:r>
              <a:t>✓  Onderhoud, updates &amp; bugfixes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434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Roboto Flex"/>
              </a:defRPr>
            </a:pPr>
            <a:r>
              <a:t>✓  Support (mail + telefoon)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7548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Roboto Flex"/>
              </a:defRPr>
            </a:pPr>
            <a:r>
              <a:t>✓  Branding per organisatie (white-label)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0749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Roboto Flex"/>
              </a:defRPr>
            </a:pPr>
            <a:r>
              <a:t>✓  Data-migratie ondersteuning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394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Roboto Flex"/>
              </a:defRPr>
            </a:pPr>
            <a:r>
              <a:t>✓  Nieuwe features op aanvraag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6217920"/>
            <a:ext cx="10058400" cy="457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62636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460"/>
                </a:solidFill>
                <a:latin typeface="Roboto Flex"/>
              </a:defRPr>
            </a:pPr>
            <a:r>
              <a:t>Jaar 1: €34.000  ·  Besparing: €17.500  ·  Netto: €16.500  |  Vanaf jaar 2: €15.000 licentie vs €17.500 besparing = netto positief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IMPLEMENTATIE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Tijdlijn naar productie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86000"/>
            <a:ext cx="2377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460"/>
                </a:solidFill>
                <a:latin typeface="Roboto Flex"/>
              </a:defRPr>
            </a:pPr>
            <a:r>
              <a:t>Week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Roboto Flex"/>
              </a:defRPr>
            </a:pPr>
            <a:r>
              <a:t>Akkoord &amp;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Contract, toegang tot systemen,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data-inventarisatie, branding afstemming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7460"/>
                </a:solidFill>
                <a:latin typeface="Roboto Flex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286000"/>
            <a:ext cx="2377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460"/>
                </a:solidFill>
                <a:latin typeface="Roboto Flex"/>
              </a:defRPr>
            </a:pPr>
            <a:r>
              <a:t>Week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Roboto Flex"/>
              </a:defRPr>
            </a:pPr>
            <a:r>
              <a:t>Data-migratie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Auteursdata importeren, PDF-afrekeningen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uploaden, accounts aanmaken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7460"/>
                </a:solidFill>
                <a:latin typeface="Roboto Flex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2377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460"/>
                </a:solidFill>
                <a:latin typeface="Roboto Flex"/>
              </a:defRPr>
            </a:pPr>
            <a:r>
              <a:t>Week 5–6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Roboto Flex"/>
              </a:defRPr>
            </a:pPr>
            <a:r>
              <a:t>Testen &amp;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Pilot met 10 auteurs, feedback verwerken,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laatste aanpassingen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7460"/>
                </a:solidFill>
                <a:latin typeface="Roboto Flex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286000"/>
            <a:ext cx="2377440" cy="2743200"/>
          </a:xfrm>
          <a:prstGeom prst="roundRect">
            <a:avLst>
              <a:gd name="adj" fmla="val 4000"/>
            </a:avLst>
          </a:prstGeom>
          <a:solidFill>
            <a:srgbClr val="F0FAF7"/>
          </a:solidFill>
          <a:ln w="19050">
            <a:solidFill>
              <a:srgbClr val="007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7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460"/>
                </a:solidFill>
                <a:latin typeface="Roboto Flex"/>
              </a:defRPr>
            </a:pPr>
            <a:r>
              <a:t>Week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9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Roboto Flex"/>
              </a:defRPr>
            </a:pPr>
            <a:r>
              <a:t>Go-live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79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Alle auteurs ontvangen een email met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Roboto Flex"/>
              </a:defRPr>
            </a:pPr>
            <a:r>
              <a:t>login-instructies. Het portaal is live.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11827"/>
                </a:solidFill>
                <a:latin typeface="Roboto Flex"/>
              </a:defRPr>
            </a:pPr>
            <a:r>
              <a:t>Het portaal is al gebouwd en getest. De enige stap naar productie is het importeren van echte data.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11827"/>
                </a:solidFill>
                <a:latin typeface="Roboto Flex"/>
              </a:defRPr>
            </a:pPr>
            <a:r>
              <a:t>Bij akkoord kan het portaal binnen 7 weken live zijn voor alle 2.500 auteurs van Noordhoff.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460"/>
                </a:solidFill>
                <a:latin typeface="Roboto Flex"/>
              </a:defRPr>
            </a:pPr>
            <a:r>
              <a:t>ONTWIKKELING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60"/>
                </a:solidFill>
                <a:latin typeface="Roboto Flex"/>
              </a:defRPr>
            </a:pPr>
            <a:r>
              <a:t>Urenverantwoording — 200 uur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UX research &amp; wireframes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16 uur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450592"/>
            <a:ext cx="2769325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Huisstijl &amp; design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12 uur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450592"/>
            <a:ext cx="2076994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334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Login &amp; authenticatie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6334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10 uur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980944"/>
            <a:ext cx="1730828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334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Dashboard framework &amp;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6334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14 uur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980944"/>
            <a:ext cx="2423160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16382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7 auteur-tabbladen bouwen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16382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28 uur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511296"/>
            <a:ext cx="4846320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6382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PDF preview &amp; generatie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16382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10 uur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511296"/>
            <a:ext cx="1730828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694175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Admin dashboard &amp; CRUD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694175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22 uur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041647"/>
            <a:ext cx="3807822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94175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Supabase backend &amp; RLS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694175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18 uur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041647"/>
            <a:ext cx="3115491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24527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Bulk import tools (CSV + PDF)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224527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12 uur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4571999"/>
            <a:ext cx="2076994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224527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Responsive design (mobile/tablet)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4224527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14 uur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571999"/>
            <a:ext cx="2423160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75487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i18n, dark mode, guided tour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75487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12 uur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102351"/>
            <a:ext cx="2076994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75487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Publieke website (5 pagina's)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475487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16 uur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102351"/>
            <a:ext cx="2769325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285231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Roboto Flex"/>
              </a:defRPr>
            </a:pPr>
            <a:r>
              <a:t>Testing, QA &amp; optimalisatie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285231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7460"/>
                </a:solidFill>
                <a:latin typeface="Roboto Flex"/>
              </a:defRPr>
            </a:pPr>
            <a:r>
              <a:t>16 uur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7280" y="5632703"/>
            <a:ext cx="2769325" cy="31750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7280" y="5943600"/>
            <a:ext cx="10058400" cy="12700"/>
          </a:xfrm>
          <a:prstGeom prst="rect">
            <a:avLst/>
          </a:prstGeom>
          <a:solidFill>
            <a:srgbClr val="007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460"/>
                </a:solidFill>
                <a:latin typeface="Roboto Flex"/>
              </a:defRPr>
            </a:pPr>
            <a:r>
              <a:t>TOTAAL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460"/>
                </a:solidFill>
                <a:latin typeface="Roboto Flex"/>
              </a:defRPr>
            </a:pPr>
            <a:r>
              <a:t>200 uur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460"/>
              </a:gs>
              <a:gs pos="100000">
                <a:srgbClr val="0032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 Flex"/>
              </a:defRPr>
            </a:pPr>
            <a:r>
              <a:t>Klaar om te starten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BEE1DA"/>
                </a:solidFill>
                <a:latin typeface="Roboto Flex"/>
              </a:defRPr>
            </a:pPr>
            <a:r>
              <a:t>Het portaal is gebouwd, getest en klaar voor productie.</a:t>
            </a:r>
          </a:p>
          <a:p>
            <a:pPr algn="ctr">
              <a:spcAft>
                <a:spcPts val="600"/>
              </a:spcAft>
              <a:defRPr sz="1700" b="0">
                <a:solidFill>
                  <a:srgbClr val="BEE1DA"/>
                </a:solidFill>
                <a:latin typeface="Roboto Flex"/>
              </a:defRPr>
            </a:pPr>
            <a:r>
              <a:t>De volgende stap is een akkoord en data-migratie.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Roboto Flex"/>
              </a:defRPr>
            </a:pPr>
            <a:r>
              <a:t>200 uur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C8BE"/>
                </a:solidFill>
                <a:latin typeface="Roboto Flex"/>
              </a:defRPr>
            </a:pPr>
            <a:r>
              <a:t>Ontwikkeld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Roboto Flex"/>
              </a:defRPr>
            </a:pPr>
            <a:r>
              <a:t>5.000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C8BE"/>
                </a:solidFill>
                <a:latin typeface="Roboto Flex"/>
              </a:defRPr>
            </a:pPr>
            <a:r>
              <a:t>Auteurs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Roboto Flex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C8BE"/>
                </a:solidFill>
                <a:latin typeface="Roboto Flex"/>
              </a:defRPr>
            </a:pPr>
            <a:r>
              <a:t>Organisaties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Roboto Flex"/>
              </a:defRPr>
            </a:pPr>
            <a:r>
              <a:t>7 weken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C8BE"/>
                </a:solidFill>
                <a:latin typeface="Roboto Flex"/>
              </a:defRPr>
            </a:pPr>
            <a:r>
              <a:t>Naar go-live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Roboto Flex"/>
              </a:defRPr>
            </a:pPr>
            <a:r>
              <a:t>&lt; 2 jaar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C8BE"/>
                </a:solidFill>
                <a:latin typeface="Roboto Flex"/>
              </a:defRPr>
            </a:pPr>
            <a:r>
              <a:t>Terugverdientijd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AA9B"/>
                </a:solidFill>
                <a:latin typeface="Roboto Flex"/>
              </a:defRPr>
            </a:pPr>
            <a:r>
              <a:t>Patrick Jeeninga  ·  patrick@noordhoff.nl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